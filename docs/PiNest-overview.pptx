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straight on the pitch, no title slide.</a:t>
            </a:r>
          </a:p>
          <a:p>
            <a:r>
              <a:t>PiNest turns a Raspberry Pi 5 into the hub of the house: every laptop's Documents, Pictures and Videos are mirrored to an SSD on the Pi, music streams from it, files are browsable from any device, and every coding agent on every laptop reports what it's doing to a small touchscreen on the Pi.</a:t>
            </a:r>
          </a:p>
          <a:p>
            <a:r>
              <a:t>Key point: it is all LAN-only, uses no cloud service, and the server side is plain Python standard library, so there's nothing to install on the Pi beyond Syncthing.</a:t>
            </a:r>
          </a:p>
          <a:p>
            <a:r>
              <a:t>The numbers on the right are real measurements from this build.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a:t>
            </a:r>
          </a:p>
          <a:p>
            <a:r>
              <a:t>Each laptop runs three things: Syncthing in Send Only mode, pihub-client (a small daemon that polls the Pi for work every 10 seconds), and hooks inside every coding agent.</a:t>
            </a:r>
          </a:p>
          <a:p>
            <a:r>
              <a:t>Everything flows to the Pi over the home LAN. Two protocols: Syncthing's Block Exchange Protocol on port 22000 for files, and a token-authenticated REST API on port 8899 for control.</a:t>
            </a:r>
          </a:p>
          <a:p>
            <a:r>
              <a:t>Nothing is ever pushed to a laptop. The Pi queues tasks; laptops poll and pick them up. That makes it work behind any laptop firewall, and a laptop that was off simply catches up when it comes back.</a:t>
            </a:r>
          </a:p>
          <a:p>
            <a:r>
              <a:t>On the Pi: three systemd services, a USB SSD mounted at /srv/nas, and the touchscreen running Chromium in kiosk mode.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NAS part.</a:t>
            </a:r>
          </a:p>
          <a:p>
            <a:r>
              <a:t>Each PC shares its folders as Send Only and the Pi receives them as Receive Only, so the Pi can never change a laptop's files.</a:t>
            </a:r>
          </a:p>
          <a:p>
            <a:r>
              <a:t>Staggered versioning keeps old copies for 30 days: if a file is deleted on a laptop, the Pi still has it.</a:t>
            </a:r>
          </a:p>
          <a:p>
            <a:r>
              <a:t>Syncing isn't continuous. Every 4 days PiHub queues a sync task; the laptop's client resumes Syncthing, waits for 100 percent, reports the result and pauses again. If the Pi was down, a systemd timer on the laptop with Persistent=true runs the sync anyway.</a:t>
            </a:r>
          </a:p>
          <a:p>
            <a:r>
              <a:t>For search, PiHub indexes the mirrored files into SQLite. For the live screen it reads byte counts straight from Syncthing's REST API, which is why a new device and its upload show up within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onboarding story. You clone the repo, open the dependencies folder, and run join-pi.cmd.</a:t>
            </a:r>
          </a:p>
          <a:p>
            <a:r>
              <a:t>That file is a polyglot: Windows reads it as a batch file, Linux reads it as a bash script. Windows skips the lines that start with a colon because it treats them as labels; bash runs them and exits before reaching the Windows part.</a:t>
            </a:r>
          </a:p>
          <a:p>
            <a:r>
              <a:t>It downloads the real installer from the Pi, which arrives with the Pi's address and token filled in.</a:t>
            </a:r>
          </a:p>
          <a:p>
            <a:r>
              <a:t>The Pi names the PC after the user and the OS, for example soumil_linux or soumil_win, and only adds a number for a real duplicate. The name is tied to the machine ID, so running the script again keeps the same name.</a:t>
            </a:r>
          </a:p>
          <a:p>
            <a:r>
              <a:t>Pairing used to need an SSH login to the Pi; now it's a token-protected API call, so there's no password prompt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coding agent on a laptop reports to the Pi.</a:t>
            </a:r>
          </a:p>
          <a:p>
            <a:r>
              <a:t>Each agent has its own extension point: Claude Code, Codex, Copilot CLI, Crush and Gemini use lifecycle hooks configured in JSON; OpenCode uses a JavaScript plugin. Gemini CLI and Antigravity share one settings file, so the reporter looks at the parent process to tell them apart.</a:t>
            </a:r>
          </a:p>
          <a:p>
            <a:r>
              <a:t>All of them call the same small script, report_event.py. It normalises event names, field names and tool names into one schema, strips secrets like tokens and passwords with regular expressions, and posts a few hundred bytes to the Pi with a one-second timeout. It always exits zero and prints nothing, so it can never slow down or break an agent.</a:t>
            </a:r>
          </a:p>
          <a:p>
            <a:r>
              <a:t>On the Pi, a describe function turns the raw event into a sentence such as 'Editing app.py' or 'Needs you: permission to run Bash'.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self-contained web apps on the Pi, both built on Python's http.server with no third-party packages.</a:t>
            </a:r>
          </a:p>
          <a:p>
            <a:r>
              <a:t>Musik streams music progressively. It implements HTTP Range requests and answers with 206 Partial Content, which is what lets the browser start playing immediately and seek to any point without downloading the whole file. It also integrates with the Media Session API, so lock-screen and keyboard media keys work.</a:t>
            </a:r>
          </a:p>
          <a:p>
            <a:r>
              <a:t>picloud is a file cloud: browse, upload with progress, rename, delete, and download, with a path-traversal guard so nobody can escape the storage root with ../ tricks.</a:t>
            </a:r>
          </a:p>
          <a:p>
            <a:r>
              <a:t>Both run as systemd services, and both have a tap-only Pi mode for the touchscreen.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Pi's screen is tiny and resistive: a tap is the only input. No keyboard, no hover, and drag-to-scroll doesn't work well.</a:t>
            </a:r>
          </a:p>
          <a:p>
            <a:r>
              <a:t>So each app has a Pi mode, switched on by ?pi=1 in the URL from the desktop launchers, while laptops and phones keep the normal UI.</a:t>
            </a:r>
          </a:p>
          <a:p>
            <a:r>
              <a:t>Every target is at least 48 pixels, scrolling is replaced by page buttons, and anything that needs typing is hidden.</a:t>
            </a:r>
          </a:p>
          <a:p>
            <a:r>
              <a:t>Two gotchas worth mentioning. Kiosk windows have no title bar, so each app has its own close button; window.close only works while the window has one history entry, so navigation uses location.replace. And the 'frozen screen' bug turned out to be X11 DPMS blanking after 10 minutes, which an SPI display can't show, so it just froze on the last frame. Disabling DPMS fixed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how it's kept safe and what comes next.</a:t>
            </a:r>
          </a:p>
          <a:p>
            <a:r>
              <a:t>Security is layered: the firewall only accepts the home subnet, every API call needs a token compared in constant time, SSH is key-only, secrets are redacted on the laptop before any agent event leaves it, and a sensitive-file deny list stops the file-fetch feature from ever touching keys or password stores.</a:t>
            </a:r>
          </a:p>
          <a:p>
            <a:r>
              <a:t>Operationally everything is systemd: services restart on failure, and before every deploy the old code is archived to a backup folder on the Pi. There are 37 unit tests covering naming, pairing, sync rounds, event normalisation and redaction.</a:t>
            </a:r>
          </a:p>
          <a:p>
            <a:r>
              <a:t>Next steps: roll out the Windows PC, make the Pi portable to any network using DHCP and mDNS instead of a fixed IP, and add secure remote access with HTTPS or a WireGuard-based tunnel such as Tailscale.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6400800"/>
            <a:ext cx="10911535" cy="274320"/>
          </a:xfrm>
          <a:prstGeom prst="rect">
            <a:avLst/>
          </a:prstGeom>
          <a:noFill/>
        </p:spPr>
        <p:txBody>
          <a:bodyPr wrap="none">
            <a:spAutoFit/>
          </a:bodyPr>
          <a:lstStyle/>
          <a:p>
            <a:r>
              <a:rPr sz="1100" b="1">
                <a:solidFill>
                  <a:srgbClr val="0EA5E9"/>
                </a:solidFill>
                <a:latin typeface="Calibri"/>
              </a:rPr>
              <a:t>PiNest</a:t>
            </a:r>
            <a:r>
              <a:rPr sz="1100" b="0">
                <a:solidFill>
                  <a:srgbClr val="94A3B8"/>
                </a:solidFill>
                <a:latin typeface="Calibri"/>
              </a:rPr>
              <a:t>   ·   Raspberry Pi 5 homelab   ·   1 / 8</a:t>
            </a:r>
          </a:p>
        </p:txBody>
      </p:sp>
      <p:sp>
        <p:nvSpPr>
          <p:cNvPr id="3" name="TextBox 2"/>
          <p:cNvSpPr txBox="1"/>
          <p:nvPr/>
        </p:nvSpPr>
        <p:spPr>
          <a:xfrm>
            <a:off x="640080" y="822960"/>
            <a:ext cx="6949440" cy="2926080"/>
          </a:xfrm>
          <a:prstGeom prst="rect">
            <a:avLst/>
          </a:prstGeom>
          <a:noFill/>
        </p:spPr>
        <p:txBody>
          <a:bodyPr wrap="square" anchor="t" lIns="45720" rIns="45720">
            <a:spAutoFit/>
          </a:bodyPr>
          <a:lstStyle/>
          <a:p>
            <a:r>
              <a:rPr sz="3400" b="1">
                <a:solidFill>
                  <a:srgbClr val="F8FAFC"/>
                </a:solidFill>
                <a:latin typeface="Calibri"/>
              </a:rPr>
              <a:t>Every laptop at home, mirrored to a Raspberry Pi.</a:t>
            </a:r>
          </a:p>
          <a:p>
            <a:pPr>
              <a:spcBef>
                <a:spcPts val="1400"/>
              </a:spcBef>
            </a:pPr>
            <a:r>
              <a:rPr sz="3400" b="1">
                <a:solidFill>
                  <a:srgbClr val="0EA5E9"/>
                </a:solidFill>
                <a:latin typeface="Calibri"/>
              </a:rPr>
              <a:t>And every AI coding agent on them, live on a 3.5″ touchscreen.</a:t>
            </a:r>
          </a:p>
        </p:txBody>
      </p:sp>
      <p:sp>
        <p:nvSpPr>
          <p:cNvPr id="4" name="TextBox 3"/>
          <p:cNvSpPr txBox="1"/>
          <p:nvPr/>
        </p:nvSpPr>
        <p:spPr>
          <a:xfrm>
            <a:off x="640080" y="4114800"/>
            <a:ext cx="6766560" cy="2103120"/>
          </a:xfrm>
          <a:prstGeom prst="rect">
            <a:avLst/>
          </a:prstGeom>
          <a:noFill/>
        </p:spPr>
        <p:txBody>
          <a:bodyPr wrap="square" anchor="t" lIns="45720" rIns="45720">
            <a:spAutoFit/>
          </a:bodyPr>
          <a:lstStyle/>
          <a:p>
            <a:pPr>
              <a:spcAft>
                <a:spcPts val="1000"/>
              </a:spcAft>
            </a:pPr>
            <a:r>
              <a:rPr sz="1700" b="1">
                <a:solidFill>
                  <a:srgbClr val="0EA5E9"/>
                </a:solidFill>
                <a:latin typeface="Calibri"/>
              </a:rPr>
              <a:t>Self-hosted NAS.  </a:t>
            </a:r>
            <a:r>
              <a:rPr sz="1700" b="0">
                <a:solidFill>
                  <a:srgbClr val="CBD5E1"/>
                </a:solidFill>
                <a:latin typeface="Calibri"/>
              </a:rPr>
              <a:t>Syncthing mirrors each PC onto a 256 GB USB SSD on the Pi.</a:t>
            </a:r>
          </a:p>
          <a:p>
            <a:pPr>
              <a:spcAft>
                <a:spcPts val="1000"/>
              </a:spcAft>
            </a:pPr>
            <a:r>
              <a:rPr sz="1700" b="1">
                <a:solidFill>
                  <a:srgbClr val="0EA5E9"/>
                </a:solidFill>
                <a:latin typeface="Calibri"/>
              </a:rPr>
              <a:t>One hub, three apps.  </a:t>
            </a:r>
            <a:r>
              <a:rPr sz="1700" b="0">
                <a:solidFill>
                  <a:srgbClr val="CBD5E1"/>
                </a:solidFill>
                <a:latin typeface="Calibri"/>
              </a:rPr>
              <a:t>PiHub (coordinator), Musik (music streaming), picloud (file cloud).</a:t>
            </a:r>
          </a:p>
          <a:p>
            <a:pPr>
              <a:spcAft>
                <a:spcPts val="1000"/>
              </a:spcAft>
            </a:pPr>
            <a:r>
              <a:rPr sz="1700" b="1">
                <a:solidFill>
                  <a:srgbClr val="0EA5E9"/>
                </a:solidFill>
                <a:latin typeface="Calibri"/>
              </a:rPr>
              <a:t>Zero cloud, zero frameworks.  </a:t>
            </a:r>
            <a:r>
              <a:rPr sz="1700" b="0">
                <a:solidFill>
                  <a:srgbClr val="CBD5E1"/>
                </a:solidFill>
                <a:latin typeface="Calibri"/>
              </a:rPr>
              <a:t>LAN-only, token-authenticated, stdlib Python on the server.</a:t>
            </a:r>
          </a:p>
        </p:txBody>
      </p:sp>
      <p:sp>
        <p:nvSpPr>
          <p:cNvPr id="5" name="Rounded Rectangle 4"/>
          <p:cNvSpPr/>
          <p:nvPr/>
        </p:nvSpPr>
        <p:spPr>
          <a:xfrm>
            <a:off x="8001000" y="868680"/>
            <a:ext cx="3566160" cy="1143000"/>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978408"/>
            <a:ext cx="3200400" cy="914400"/>
          </a:xfrm>
          <a:prstGeom prst="rect">
            <a:avLst/>
          </a:prstGeom>
          <a:noFill/>
        </p:spPr>
        <p:txBody>
          <a:bodyPr wrap="square" anchor="ctr" lIns="45720" rIns="45720">
            <a:spAutoFit/>
          </a:bodyPr>
          <a:lstStyle/>
          <a:p>
            <a:r>
              <a:rPr sz="3000" b="1">
                <a:solidFill>
                  <a:srgbClr val="0EA5E9"/>
                </a:solidFill>
                <a:latin typeface="Calibri"/>
              </a:rPr>
              <a:t>7</a:t>
            </a:r>
          </a:p>
          <a:p>
            <a:r>
              <a:rPr sz="1400" b="0">
                <a:solidFill>
                  <a:srgbClr val="CBD5E1"/>
                </a:solidFill>
                <a:latin typeface="Calibri"/>
              </a:rPr>
              <a:t>coding agents monitored</a:t>
            </a:r>
          </a:p>
        </p:txBody>
      </p:sp>
      <p:sp>
        <p:nvSpPr>
          <p:cNvPr id="7" name="Rounded Rectangle 6"/>
          <p:cNvSpPr/>
          <p:nvPr/>
        </p:nvSpPr>
        <p:spPr>
          <a:xfrm>
            <a:off x="8001000" y="2194560"/>
            <a:ext cx="3566160" cy="1143000"/>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2304288"/>
            <a:ext cx="3200400" cy="914400"/>
          </a:xfrm>
          <a:prstGeom prst="rect">
            <a:avLst/>
          </a:prstGeom>
          <a:noFill/>
        </p:spPr>
        <p:txBody>
          <a:bodyPr wrap="square" anchor="ctr" lIns="45720" rIns="45720">
            <a:spAutoFit/>
          </a:bodyPr>
          <a:lstStyle/>
          <a:p>
            <a:r>
              <a:rPr sz="3000" b="1">
                <a:solidFill>
                  <a:srgbClr val="0EA5E9"/>
                </a:solidFill>
                <a:latin typeface="Calibri"/>
              </a:rPr>
              <a:t>&lt; 1 s</a:t>
            </a:r>
          </a:p>
          <a:p>
            <a:r>
              <a:rPr sz="1400" b="0">
                <a:solidFill>
                  <a:srgbClr val="CBD5E1"/>
                </a:solidFill>
                <a:latin typeface="Calibri"/>
              </a:rPr>
              <a:t>for a new PC to appear on the Pi</a:t>
            </a:r>
          </a:p>
        </p:txBody>
      </p:sp>
      <p:sp>
        <p:nvSpPr>
          <p:cNvPr id="9" name="Rounded Rectangle 8"/>
          <p:cNvSpPr/>
          <p:nvPr/>
        </p:nvSpPr>
        <p:spPr>
          <a:xfrm>
            <a:off x="8001000" y="3520440"/>
            <a:ext cx="3566160" cy="1143000"/>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630168"/>
            <a:ext cx="3200400" cy="914400"/>
          </a:xfrm>
          <a:prstGeom prst="rect">
            <a:avLst/>
          </a:prstGeom>
          <a:noFill/>
        </p:spPr>
        <p:txBody>
          <a:bodyPr wrap="square" anchor="ctr" lIns="45720" rIns="45720">
            <a:spAutoFit/>
          </a:bodyPr>
          <a:lstStyle/>
          <a:p>
            <a:r>
              <a:rPr sz="3000" b="1">
                <a:solidFill>
                  <a:srgbClr val="0EA5E9"/>
                </a:solidFill>
                <a:latin typeface="Calibri"/>
              </a:rPr>
              <a:t>1 click</a:t>
            </a:r>
          </a:p>
          <a:p>
            <a:r>
              <a:rPr sz="1400" b="0">
                <a:solidFill>
                  <a:srgbClr val="CBD5E1"/>
                </a:solidFill>
                <a:latin typeface="Calibri"/>
              </a:rPr>
              <a:t>to join a laptop (Linux or Windows)</a:t>
            </a:r>
          </a:p>
        </p:txBody>
      </p:sp>
      <p:sp>
        <p:nvSpPr>
          <p:cNvPr id="11" name="Rounded Rectangle 10"/>
          <p:cNvSpPr/>
          <p:nvPr/>
        </p:nvSpPr>
        <p:spPr>
          <a:xfrm>
            <a:off x="8001000" y="4846320"/>
            <a:ext cx="3566160" cy="1143000"/>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956048"/>
            <a:ext cx="3200400" cy="914400"/>
          </a:xfrm>
          <a:prstGeom prst="rect">
            <a:avLst/>
          </a:prstGeom>
          <a:noFill/>
        </p:spPr>
        <p:txBody>
          <a:bodyPr wrap="square" anchor="ctr" lIns="45720" rIns="45720">
            <a:spAutoFit/>
          </a:bodyPr>
          <a:lstStyle/>
          <a:p>
            <a:r>
              <a:rPr sz="3000" b="1">
                <a:solidFill>
                  <a:srgbClr val="0EA5E9"/>
                </a:solidFill>
                <a:latin typeface="Calibri"/>
              </a:rPr>
              <a:t>0 files</a:t>
            </a:r>
          </a:p>
          <a:p>
            <a:r>
              <a:rPr sz="1400" b="0">
                <a:solidFill>
                  <a:srgbClr val="CBD5E1"/>
                </a:solidFill>
                <a:latin typeface="Calibri"/>
              </a:rPr>
              <a:t>re-sent after renaming a device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a:spAutoFit/>
          </a:bodyPr>
          <a:lstStyle/>
          <a:p>
            <a:r>
              <a:rPr sz="3200" b="1">
                <a:solidFill>
                  <a:srgbClr val="F8FAFC"/>
                </a:solidFill>
                <a:latin typeface="Calibri"/>
              </a:rPr>
              <a:t>Architecture: pull-based hub-and-spoke on one LAN</a:t>
            </a:r>
          </a:p>
        </p:txBody>
      </p:sp>
      <p:sp>
        <p:nvSpPr>
          <p:cNvPr id="3" name="Rectangle 2"/>
          <p:cNvSpPr/>
          <p:nvPr/>
        </p:nvSpPr>
        <p:spPr>
          <a:xfrm>
            <a:off x="640080" y="1207008"/>
            <a:ext cx="1005840" cy="6400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0911535" cy="274320"/>
          </a:xfrm>
          <a:prstGeom prst="rect">
            <a:avLst/>
          </a:prstGeom>
          <a:noFill/>
        </p:spPr>
        <p:txBody>
          <a:bodyPr wrap="none">
            <a:spAutoFit/>
          </a:bodyPr>
          <a:lstStyle/>
          <a:p>
            <a:r>
              <a:rPr sz="1100" b="1">
                <a:solidFill>
                  <a:srgbClr val="0EA5E9"/>
                </a:solidFill>
                <a:latin typeface="Calibri"/>
              </a:rPr>
              <a:t>PiNest</a:t>
            </a:r>
            <a:r>
              <a:rPr sz="1100" b="0">
                <a:solidFill>
                  <a:srgbClr val="94A3B8"/>
                </a:solidFill>
                <a:latin typeface="Calibri"/>
              </a:rPr>
              <a:t>   ·   Raspberry Pi 5 homelab   ·   2 / 8</a:t>
            </a:r>
          </a:p>
        </p:txBody>
      </p:sp>
      <p:sp>
        <p:nvSpPr>
          <p:cNvPr id="5" name="Rounded Rectangle 4"/>
          <p:cNvSpPr/>
          <p:nvPr/>
        </p:nvSpPr>
        <p:spPr>
          <a:xfrm>
            <a:off x="640080" y="1691640"/>
            <a:ext cx="3291840" cy="4023360"/>
          </a:xfrm>
          <a:prstGeom prst="roundRect">
            <a:avLst>
              <a:gd name="adj" fmla="val 6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37944"/>
            <a:ext cx="2889504" cy="3749040"/>
          </a:xfrm>
          <a:prstGeom prst="rect">
            <a:avLst/>
          </a:prstGeom>
          <a:noFill/>
        </p:spPr>
        <p:txBody>
          <a:bodyPr wrap="square" anchor="t" lIns="45720" rIns="45720">
            <a:spAutoFit/>
          </a:bodyPr>
          <a:lstStyle/>
          <a:p>
            <a:pPr>
              <a:spcAft>
                <a:spcPts val="600"/>
              </a:spcAft>
            </a:pPr>
            <a:r>
              <a:rPr sz="1700" b="1">
                <a:solidFill>
                  <a:srgbClr val="F8FAFC"/>
                </a:solidFill>
                <a:latin typeface="Calibri"/>
              </a:rPr>
              <a:t>Laptops  (Linux / Windows)</a:t>
            </a:r>
          </a:p>
          <a:p>
            <a:pPr>
              <a:spcAft>
                <a:spcPts val="300"/>
              </a:spcAft>
            </a:pPr>
            <a:r>
              <a:rPr sz="1400" b="1">
                <a:solidFill>
                  <a:srgbClr val="0EA5E9"/>
                </a:solidFill>
                <a:latin typeface="Calibri"/>
              </a:rPr>
              <a:t>Syncthing  </a:t>
            </a:r>
            <a:r>
              <a:rPr sz="1400" b="0">
                <a:solidFill>
                  <a:srgbClr val="CBD5E1"/>
                </a:solidFill>
                <a:latin typeface="Calibri"/>
              </a:rPr>
              <a:t>Send Only folders</a:t>
            </a:r>
          </a:p>
          <a:p>
            <a:pPr>
              <a:spcAft>
                <a:spcPts val="300"/>
              </a:spcAft>
            </a:pPr>
            <a:r>
              <a:rPr sz="1400" b="1">
                <a:solidFill>
                  <a:srgbClr val="0EA5E9"/>
                </a:solidFill>
                <a:latin typeface="Calibri"/>
              </a:rPr>
              <a:t>pihub-client  </a:t>
            </a:r>
            <a:r>
              <a:rPr sz="1400" b="0">
                <a:solidFill>
                  <a:srgbClr val="CBD5E1"/>
                </a:solidFill>
                <a:latin typeface="Calibri"/>
              </a:rPr>
              <a:t>polls /api/tasks every 10 s</a:t>
            </a:r>
          </a:p>
          <a:p>
            <a:pPr>
              <a:spcAft>
                <a:spcPts val="300"/>
              </a:spcAft>
            </a:pPr>
            <a:r>
              <a:rPr sz="1400" b="1">
                <a:solidFill>
                  <a:srgbClr val="0EA5E9"/>
                </a:solidFill>
                <a:latin typeface="Calibri"/>
              </a:rPr>
              <a:t>Agent hooks  </a:t>
            </a:r>
            <a:r>
              <a:rPr sz="1400" b="0">
                <a:solidFill>
                  <a:srgbClr val="CBD5E1"/>
                </a:solidFill>
                <a:latin typeface="Calibri"/>
              </a:rPr>
              <a:t>Claude Code, Codex, Copilot CLI, Crush, OpenCode, Gemini, Antigravity</a:t>
            </a:r>
          </a:p>
          <a:p>
            <a:pPr>
              <a:spcAft>
                <a:spcPts val="300"/>
              </a:spcAft>
            </a:pPr>
            <a:r>
              <a:rPr sz="1400" b="1">
                <a:solidFill>
                  <a:srgbClr val="0EA5E9"/>
                </a:solidFill>
                <a:latin typeface="Calibri"/>
              </a:rPr>
              <a:t>MCP server  </a:t>
            </a:r>
            <a:r>
              <a:rPr sz="1400" b="0">
                <a:solidFill>
                  <a:srgbClr val="CBD5E1"/>
                </a:solidFill>
                <a:latin typeface="Calibri"/>
              </a:rPr>
              <a:t>agents can search &amp; fetch files</a:t>
            </a:r>
          </a:p>
        </p:txBody>
      </p:sp>
      <p:sp>
        <p:nvSpPr>
          <p:cNvPr id="7" name="Rounded Rectangle 6"/>
          <p:cNvSpPr/>
          <p:nvPr/>
        </p:nvSpPr>
        <p:spPr>
          <a:xfrm>
            <a:off x="6537960" y="1691640"/>
            <a:ext cx="4983480" cy="2788920"/>
          </a:xfrm>
          <a:prstGeom prst="roundRect">
            <a:avLst>
              <a:gd name="adj" fmla="val 6000"/>
            </a:avLst>
          </a:prstGeom>
          <a:solidFill>
            <a:srgbClr val="1E293B"/>
          </a:solidFill>
          <a:ln w="15875">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9128" y="1837944"/>
            <a:ext cx="4581144" cy="2514600"/>
          </a:xfrm>
          <a:prstGeom prst="rect">
            <a:avLst/>
          </a:prstGeom>
          <a:noFill/>
        </p:spPr>
        <p:txBody>
          <a:bodyPr wrap="square" anchor="t" lIns="45720" rIns="45720">
            <a:spAutoFit/>
          </a:bodyPr>
          <a:lstStyle/>
          <a:p>
            <a:pPr>
              <a:spcAft>
                <a:spcPts val="600"/>
              </a:spcAft>
            </a:pPr>
            <a:r>
              <a:rPr sz="1700" b="1">
                <a:solidFill>
                  <a:srgbClr val="0EA5E9"/>
                </a:solidFill>
                <a:latin typeface="Calibri"/>
              </a:rPr>
              <a:t>Raspberry Pi 5  ·  Debian 13  ·  192.168.1.13</a:t>
            </a:r>
          </a:p>
          <a:p>
            <a:pPr>
              <a:spcAft>
                <a:spcPts val="300"/>
              </a:spcAft>
            </a:pPr>
            <a:r>
              <a:rPr sz="1400" b="1">
                <a:solidFill>
                  <a:srgbClr val="0EA5E9"/>
                </a:solidFill>
                <a:latin typeface="Calibri"/>
              </a:rPr>
              <a:t>PiHub :8899  </a:t>
            </a:r>
            <a:r>
              <a:rPr sz="1400" b="0">
                <a:solidFill>
                  <a:srgbClr val="CBD5E1"/>
                </a:solidFill>
                <a:latin typeface="Calibri"/>
              </a:rPr>
              <a:t>REST API, SQLite (WAL), agent monitor</a:t>
            </a:r>
          </a:p>
          <a:p>
            <a:pPr>
              <a:spcAft>
                <a:spcPts val="300"/>
              </a:spcAft>
            </a:pPr>
            <a:r>
              <a:rPr sz="1400" b="1">
                <a:solidFill>
                  <a:srgbClr val="0EA5E9"/>
                </a:solidFill>
                <a:latin typeface="Calibri"/>
              </a:rPr>
              <a:t>Musik :8080  </a:t>
            </a:r>
            <a:r>
              <a:rPr sz="1400" b="0">
                <a:solidFill>
                  <a:srgbClr val="CBD5E1"/>
                </a:solidFill>
                <a:latin typeface="Calibri"/>
              </a:rPr>
              <a:t>HTTP Range streaming</a:t>
            </a:r>
          </a:p>
          <a:p>
            <a:pPr>
              <a:spcAft>
                <a:spcPts val="300"/>
              </a:spcAft>
            </a:pPr>
            <a:r>
              <a:rPr sz="1400" b="1">
                <a:solidFill>
                  <a:srgbClr val="0EA5E9"/>
                </a:solidFill>
                <a:latin typeface="Calibri"/>
              </a:rPr>
              <a:t>picloud :80  </a:t>
            </a:r>
            <a:r>
              <a:rPr sz="1400" b="0">
                <a:solidFill>
                  <a:srgbClr val="CBD5E1"/>
                </a:solidFill>
                <a:latin typeface="Calibri"/>
              </a:rPr>
              <a:t>web file cloud</a:t>
            </a:r>
          </a:p>
          <a:p>
            <a:pPr>
              <a:spcAft>
                <a:spcPts val="300"/>
              </a:spcAft>
            </a:pPr>
            <a:r>
              <a:rPr sz="1400" b="1">
                <a:solidFill>
                  <a:srgbClr val="0EA5E9"/>
                </a:solidFill>
                <a:latin typeface="Calibri"/>
              </a:rPr>
              <a:t>Syncthing  </a:t>
            </a:r>
            <a:r>
              <a:rPr sz="1400" b="0">
                <a:solidFill>
                  <a:srgbClr val="CBD5E1"/>
                </a:solidFill>
                <a:latin typeface="Calibri"/>
              </a:rPr>
              <a:t>Receive Only + Staggered versioning</a:t>
            </a:r>
          </a:p>
          <a:p>
            <a:pPr>
              <a:spcAft>
                <a:spcPts val="300"/>
              </a:spcAft>
            </a:pPr>
            <a:r>
              <a:rPr sz="1400" b="1">
                <a:solidFill>
                  <a:srgbClr val="0EA5E9"/>
                </a:solidFill>
                <a:latin typeface="Calibri"/>
              </a:rPr>
              <a:t>/srv/nas  </a:t>
            </a:r>
            <a:r>
              <a:rPr sz="1400" b="0">
                <a:solidFill>
                  <a:srgbClr val="CBD5E1"/>
                </a:solidFill>
                <a:latin typeface="Calibri"/>
              </a:rPr>
              <a:t>256 GB USB SSD, ext4, fstab nofail</a:t>
            </a:r>
          </a:p>
        </p:txBody>
      </p:sp>
      <p:sp>
        <p:nvSpPr>
          <p:cNvPr id="9" name="Rounded Rectangle 8"/>
          <p:cNvSpPr/>
          <p:nvPr/>
        </p:nvSpPr>
        <p:spPr>
          <a:xfrm>
            <a:off x="6537960" y="4663440"/>
            <a:ext cx="4983480" cy="1051560"/>
          </a:xfrm>
          <a:prstGeom prst="roundRect">
            <a:avLst>
              <a:gd name="adj" fmla="val 6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9128" y="4809744"/>
            <a:ext cx="4581144" cy="777240"/>
          </a:xfrm>
          <a:prstGeom prst="rect">
            <a:avLst/>
          </a:prstGeom>
          <a:noFill/>
        </p:spPr>
        <p:txBody>
          <a:bodyPr wrap="square" anchor="t" lIns="45720" rIns="45720">
            <a:spAutoFit/>
          </a:bodyPr>
          <a:lstStyle/>
          <a:p>
            <a:pPr>
              <a:spcAft>
                <a:spcPts val="600"/>
              </a:spcAft>
            </a:pPr>
            <a:r>
              <a:rPr sz="1700" b="1">
                <a:solidFill>
                  <a:srgbClr val="F8FAFC"/>
                </a:solidFill>
                <a:latin typeface="Calibri"/>
              </a:rPr>
              <a:t>3.5″ SPI touchscreen  ·  480×320</a:t>
            </a:r>
          </a:p>
          <a:p>
            <a:pPr>
              <a:spcAft>
                <a:spcPts val="300"/>
              </a:spcAft>
            </a:pPr>
            <a:r>
              <a:rPr sz="1400" b="0">
                <a:solidFill>
                  <a:srgbClr val="CBD5E1"/>
                </a:solidFill>
                <a:latin typeface="Calibri"/>
              </a:rPr>
              <a:t>Chromium --kiosk: Musik, picloud and Agents apps, tap-only</a:t>
            </a:r>
          </a:p>
        </p:txBody>
      </p:sp>
      <p:cxnSp>
        <p:nvCxnSpPr>
          <p:cNvPr id="11" name="Connector 10"/>
          <p:cNvCxnSpPr/>
          <p:nvPr/>
        </p:nvCxnSpPr>
        <p:spPr>
          <a:xfrm>
            <a:off x="4069080" y="2788920"/>
            <a:ext cx="2331720" cy="0"/>
          </a:xfrm>
          <a:prstGeom prst="line">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886200" y="2221992"/>
            <a:ext cx="2697480" cy="502920"/>
          </a:xfrm>
          <a:prstGeom prst="rect">
            <a:avLst/>
          </a:prstGeom>
          <a:noFill/>
        </p:spPr>
        <p:txBody>
          <a:bodyPr wrap="square" anchor="b" lIns="45720" rIns="45720">
            <a:spAutoFit/>
          </a:bodyPr>
          <a:lstStyle/>
          <a:p>
            <a:pPr algn="ctr"/>
            <a:r>
              <a:rPr sz="1200" b="0">
                <a:solidFill>
                  <a:srgbClr val="94A3B8"/>
                </a:solidFill>
                <a:latin typeface="Calibri"/>
              </a:rPr>
              <a:t>Syncthing BEP  :22000  (files)</a:t>
            </a:r>
          </a:p>
        </p:txBody>
      </p:sp>
      <p:cxnSp>
        <p:nvCxnSpPr>
          <p:cNvPr id="13" name="Connector 12"/>
          <p:cNvCxnSpPr/>
          <p:nvPr/>
        </p:nvCxnSpPr>
        <p:spPr>
          <a:xfrm>
            <a:off x="4069080" y="3931920"/>
            <a:ext cx="2331720" cy="0"/>
          </a:xfrm>
          <a:prstGeom prst="line">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886200" y="3364992"/>
            <a:ext cx="2697480" cy="502920"/>
          </a:xfrm>
          <a:prstGeom prst="rect">
            <a:avLst/>
          </a:prstGeom>
          <a:noFill/>
        </p:spPr>
        <p:txBody>
          <a:bodyPr wrap="square" anchor="b" lIns="45720" rIns="45720">
            <a:spAutoFit/>
          </a:bodyPr>
          <a:lstStyle/>
          <a:p>
            <a:pPr algn="ctr"/>
            <a:r>
              <a:rPr sz="1200" b="0">
                <a:solidFill>
                  <a:srgbClr val="94A3B8"/>
                </a:solidFill>
                <a:latin typeface="Calibri"/>
              </a:rPr>
              <a:t>REST + X-Token  :8899  (tasks, events)</a:t>
            </a:r>
          </a:p>
        </p:txBody>
      </p:sp>
      <p:cxnSp>
        <p:nvCxnSpPr>
          <p:cNvPr id="15" name="Connector 14"/>
          <p:cNvCxnSpPr/>
          <p:nvPr/>
        </p:nvCxnSpPr>
        <p:spPr>
          <a:xfrm>
            <a:off x="9006840" y="4480560"/>
            <a:ext cx="0" cy="182880"/>
          </a:xfrm>
          <a:prstGeom prst="line">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a:spAutoFit/>
          </a:bodyPr>
          <a:lstStyle/>
          <a:p>
            <a:r>
              <a:rPr sz="3200" b="1">
                <a:solidFill>
                  <a:srgbClr val="F8FAFC"/>
                </a:solidFill>
                <a:latin typeface="Calibri"/>
              </a:rPr>
              <a:t>Storage &amp; sync: one-way, scheduled, versioned</a:t>
            </a:r>
          </a:p>
        </p:txBody>
      </p:sp>
      <p:sp>
        <p:nvSpPr>
          <p:cNvPr id="3" name="Rectangle 2"/>
          <p:cNvSpPr/>
          <p:nvPr/>
        </p:nvSpPr>
        <p:spPr>
          <a:xfrm>
            <a:off x="640080" y="1207008"/>
            <a:ext cx="1005840" cy="6400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0911535" cy="274320"/>
          </a:xfrm>
          <a:prstGeom prst="rect">
            <a:avLst/>
          </a:prstGeom>
          <a:noFill/>
        </p:spPr>
        <p:txBody>
          <a:bodyPr wrap="none">
            <a:spAutoFit/>
          </a:bodyPr>
          <a:lstStyle/>
          <a:p>
            <a:r>
              <a:rPr sz="1100" b="1">
                <a:solidFill>
                  <a:srgbClr val="0EA5E9"/>
                </a:solidFill>
                <a:latin typeface="Calibri"/>
              </a:rPr>
              <a:t>PiNest</a:t>
            </a:r>
            <a:r>
              <a:rPr sz="1100" b="0">
                <a:solidFill>
                  <a:srgbClr val="94A3B8"/>
                </a:solidFill>
                <a:latin typeface="Calibri"/>
              </a:rPr>
              <a:t>   ·   Raspberry Pi 5 homelab   ·   3 / 8</a:t>
            </a:r>
          </a:p>
        </p:txBody>
      </p:sp>
      <p:sp>
        <p:nvSpPr>
          <p:cNvPr id="5" name="TextBox 4"/>
          <p:cNvSpPr txBox="1"/>
          <p:nvPr/>
        </p:nvSpPr>
        <p:spPr>
          <a:xfrm>
            <a:off x="640080" y="1645920"/>
            <a:ext cx="6675120" cy="4389120"/>
          </a:xfrm>
          <a:prstGeom prst="rect">
            <a:avLst/>
          </a:prstGeom>
          <a:noFill/>
        </p:spPr>
        <p:txBody>
          <a:bodyPr wrap="square" anchor="t" lIns="45720" rIns="45720">
            <a:spAutoFit/>
          </a:bodyPr>
          <a:lstStyle/>
          <a:p>
            <a:pPr>
              <a:spcAft>
                <a:spcPts val="1100"/>
              </a:spcAft>
            </a:pPr>
            <a:r>
              <a:rPr sz="1700" b="1">
                <a:solidFill>
                  <a:srgbClr val="0EA5E9"/>
                </a:solidFill>
                <a:latin typeface="Calibri"/>
              </a:rPr>
              <a:t>Send Only → Receive Only.  </a:t>
            </a:r>
            <a:r>
              <a:rPr sz="1700" b="0">
                <a:solidFill>
                  <a:srgbClr val="CBD5E1"/>
                </a:solidFill>
                <a:latin typeface="Calibri"/>
              </a:rPr>
              <a:t>Folders flow PC → Pi; the Pi never writes back to a laptop.</a:t>
            </a:r>
          </a:p>
          <a:p>
            <a:pPr>
              <a:spcAft>
                <a:spcPts val="1100"/>
              </a:spcAft>
            </a:pPr>
            <a:r>
              <a:rPr sz="1700" b="1">
                <a:solidFill>
                  <a:srgbClr val="0EA5E9"/>
                </a:solidFill>
                <a:latin typeface="Calibri"/>
              </a:rPr>
              <a:t>Staggered versioning.  </a:t>
            </a:r>
            <a:r>
              <a:rPr sz="1700" b="0">
                <a:solidFill>
                  <a:srgbClr val="CBD5E1"/>
                </a:solidFill>
                <a:latin typeface="Calibri"/>
              </a:rPr>
              <a:t>Deleted or overwritten files stay recoverable on the Pi for 30 days.</a:t>
            </a:r>
          </a:p>
          <a:p>
            <a:pPr>
              <a:spcAft>
                <a:spcPts val="1100"/>
              </a:spcAft>
            </a:pPr>
            <a:r>
              <a:rPr sz="1700" b="1">
                <a:solidFill>
                  <a:srgbClr val="0EA5E9"/>
                </a:solidFill>
                <a:latin typeface="Calibri"/>
              </a:rPr>
              <a:t>4-day sync rounds.  </a:t>
            </a:r>
            <a:r>
              <a:rPr sz="1700" b="0">
                <a:solidFill>
                  <a:srgbClr val="CBD5E1"/>
                </a:solidFill>
                <a:latin typeface="Calibri"/>
              </a:rPr>
              <a:t>A systemd timer queues a sync task; clients resume Syncthing, wait for 100 %, then pause.</a:t>
            </a:r>
          </a:p>
          <a:p>
            <a:pPr>
              <a:spcAft>
                <a:spcPts val="1100"/>
              </a:spcAft>
            </a:pPr>
            <a:r>
              <a:rPr sz="1700" b="1">
                <a:solidFill>
                  <a:srgbClr val="0EA5E9"/>
                </a:solidFill>
                <a:latin typeface="Calibri"/>
              </a:rPr>
              <a:t>Offline-safe fallback.  </a:t>
            </a:r>
            <a:r>
              <a:rPr sz="1700" b="0">
                <a:solidFill>
                  <a:srgbClr val="CBD5E1"/>
                </a:solidFill>
                <a:latin typeface="Calibri"/>
              </a:rPr>
              <a:t>Laptop-side timer with Persistent=true runs a missed round on next boot.</a:t>
            </a:r>
          </a:p>
          <a:p>
            <a:pPr>
              <a:spcAft>
                <a:spcPts val="1100"/>
              </a:spcAft>
            </a:pPr>
            <a:r>
              <a:rPr sz="1700" b="1">
                <a:solidFill>
                  <a:srgbClr val="0EA5E9"/>
                </a:solidFill>
                <a:latin typeface="Calibri"/>
              </a:rPr>
              <a:t>Searchable inventory.  </a:t>
            </a:r>
            <a:r>
              <a:rPr sz="1700" b="0">
                <a:solidFill>
                  <a:srgbClr val="CBD5E1"/>
                </a:solidFill>
                <a:latin typeface="Calibri"/>
              </a:rPr>
              <a:t>Mirrored files indexed into SQLite (WAL mode) for instant search.</a:t>
            </a:r>
          </a:p>
          <a:p>
            <a:pPr>
              <a:spcAft>
                <a:spcPts val="1100"/>
              </a:spcAft>
            </a:pPr>
            <a:r>
              <a:rPr sz="1700" b="1">
                <a:solidFill>
                  <a:srgbClr val="0EA5E9"/>
                </a:solidFill>
                <a:latin typeface="Calibri"/>
              </a:rPr>
              <a:t>Live storage.  </a:t>
            </a:r>
            <a:r>
              <a:rPr sz="1700" b="0">
                <a:solidFill>
                  <a:srgbClr val="CBD5E1"/>
                </a:solidFill>
                <a:latin typeface="Calibri"/>
              </a:rPr>
              <a:t>Bytes on the Pi read from Syncthing's /rest/db/status, cached 2 s.</a:t>
            </a:r>
          </a:p>
        </p:txBody>
      </p:sp>
      <p:sp>
        <p:nvSpPr>
          <p:cNvPr id="6" name="Rounded Rectangle 5"/>
          <p:cNvSpPr/>
          <p:nvPr/>
        </p:nvSpPr>
        <p:spPr>
          <a:xfrm>
            <a:off x="7680960" y="1691640"/>
            <a:ext cx="3886200" cy="4023360"/>
          </a:xfrm>
          <a:prstGeom prst="roundRect">
            <a:avLst>
              <a:gd name="adj" fmla="val 6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82128" y="1837944"/>
            <a:ext cx="3483864" cy="3749040"/>
          </a:xfrm>
          <a:prstGeom prst="rect">
            <a:avLst/>
          </a:prstGeom>
          <a:noFill/>
        </p:spPr>
        <p:txBody>
          <a:bodyPr wrap="square" anchor="t" lIns="45720" rIns="45720">
            <a:spAutoFit/>
          </a:bodyPr>
          <a:lstStyle/>
          <a:p>
            <a:pPr>
              <a:spcAft>
                <a:spcPts val="600"/>
              </a:spcAft>
            </a:pPr>
            <a:r>
              <a:rPr sz="1600" b="1">
                <a:solidFill>
                  <a:srgbClr val="F8FAFC"/>
                </a:solidFill>
                <a:latin typeface="Calibri"/>
              </a:rPr>
              <a:t>On disk</a:t>
            </a:r>
          </a:p>
          <a:p>
            <a:pPr>
              <a:spcAft>
                <a:spcPts val="300"/>
              </a:spcAft>
            </a:pPr>
            <a:r>
              <a:rPr sz="1300" b="1">
                <a:solidFill>
                  <a:srgbClr val="0EA5E9"/>
                </a:solidFill>
                <a:latin typeface="Calibri"/>
              </a:rPr>
              <a:t>/srv/nas/devices/  </a:t>
            </a:r>
            <a:r>
              <a:rPr sz="1300" b="0">
                <a:solidFill>
                  <a:srgbClr val="CBD5E1"/>
                </a:solidFill>
                <a:latin typeface="Calibri"/>
              </a:rPr>
              <a:t>&lt;pc&gt;/Documents, Pictures, Videos</a:t>
            </a:r>
          </a:p>
          <a:p>
            <a:pPr>
              <a:spcAft>
                <a:spcPts val="300"/>
              </a:spcAft>
            </a:pPr>
            <a:r>
              <a:rPr sz="1300" b="1">
                <a:solidFill>
                  <a:srgbClr val="0EA5E9"/>
                </a:solidFill>
                <a:latin typeface="Calibri"/>
              </a:rPr>
              <a:t>/srv/nas/music/  </a:t>
            </a:r>
            <a:r>
              <a:rPr sz="1300" b="0">
                <a:solidFill>
                  <a:srgbClr val="CBD5E1"/>
                </a:solidFill>
                <a:latin typeface="Calibri"/>
              </a:rPr>
              <a:t>shared music library</a:t>
            </a:r>
          </a:p>
          <a:p>
            <a:pPr>
              <a:spcAft>
                <a:spcPts val="300"/>
              </a:spcAft>
            </a:pPr>
            <a:r>
              <a:rPr sz="1300" b="1">
                <a:solidFill>
                  <a:srgbClr val="0EA5E9"/>
                </a:solidFill>
                <a:latin typeface="Calibri"/>
              </a:rPr>
              <a:t>/srv/nas/inbox/  </a:t>
            </a:r>
            <a:r>
              <a:rPr sz="1300" b="0">
                <a:solidFill>
                  <a:srgbClr val="CBD5E1"/>
                </a:solidFill>
                <a:latin typeface="Calibri"/>
              </a:rPr>
              <a:t>files in transit between PCs</a:t>
            </a:r>
          </a:p>
          <a:p>
            <a:pPr>
              <a:spcAft>
                <a:spcPts val="300"/>
              </a:spcAft>
            </a:pPr>
            <a:r>
              <a:rPr sz="1300" b="1">
                <a:solidFill>
                  <a:srgbClr val="0EA5E9"/>
                </a:solidFill>
                <a:latin typeface="Calibri"/>
              </a:rPr>
              <a:t>/srv/nas/pihub.db  </a:t>
            </a:r>
            <a:r>
              <a:rPr sz="1300" b="0">
                <a:solidFill>
                  <a:srgbClr val="CBD5E1"/>
                </a:solidFill>
                <a:latin typeface="Calibri"/>
              </a:rPr>
              <a:t>devices, files, tasks, agent events</a:t>
            </a:r>
          </a:p>
          <a:p>
            <a:pPr>
              <a:spcAft>
                <a:spcPts val="300"/>
              </a:spcAft>
            </a:pPr>
            <a:r>
              <a:rPr sz="1300" b="1">
                <a:solidFill>
                  <a:srgbClr val="0EA5E9"/>
                </a:solidFill>
                <a:latin typeface="Calibri"/>
              </a:rPr>
              <a:t>Mount  </a:t>
            </a:r>
            <a:r>
              <a:rPr sz="1300" b="0">
                <a:solidFill>
                  <a:srgbClr val="CBD5E1"/>
                </a:solidFill>
                <a:latin typeface="Calibri"/>
              </a:rPr>
              <a:t>UUID in fstab with nofail, so a missing SSD never blocks boot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a:spAutoFit/>
          </a:bodyPr>
          <a:lstStyle/>
          <a:p>
            <a:r>
              <a:rPr sz="3200" b="1">
                <a:solidFill>
                  <a:srgbClr val="F8FAFC"/>
                </a:solidFill>
                <a:latin typeface="Calibri"/>
              </a:rPr>
              <a:t>Joining a PC: one file, two operating systems</a:t>
            </a:r>
          </a:p>
        </p:txBody>
      </p:sp>
      <p:sp>
        <p:nvSpPr>
          <p:cNvPr id="3" name="Rectangle 2"/>
          <p:cNvSpPr/>
          <p:nvPr/>
        </p:nvSpPr>
        <p:spPr>
          <a:xfrm>
            <a:off x="640080" y="1207008"/>
            <a:ext cx="1005840" cy="6400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0911535" cy="274320"/>
          </a:xfrm>
          <a:prstGeom prst="rect">
            <a:avLst/>
          </a:prstGeom>
          <a:noFill/>
        </p:spPr>
        <p:txBody>
          <a:bodyPr wrap="none">
            <a:spAutoFit/>
          </a:bodyPr>
          <a:lstStyle/>
          <a:p>
            <a:r>
              <a:rPr sz="1100" b="1">
                <a:solidFill>
                  <a:srgbClr val="0EA5E9"/>
                </a:solidFill>
                <a:latin typeface="Calibri"/>
              </a:rPr>
              <a:t>PiNest</a:t>
            </a:r>
            <a:r>
              <a:rPr sz="1100" b="0">
                <a:solidFill>
                  <a:srgbClr val="94A3B8"/>
                </a:solidFill>
                <a:latin typeface="Calibri"/>
              </a:rPr>
              <a:t>   ·   Raspberry Pi 5 homelab   ·   4 / 8</a:t>
            </a:r>
          </a:p>
        </p:txBody>
      </p:sp>
      <p:sp>
        <p:nvSpPr>
          <p:cNvPr id="5" name="Pentagon 4"/>
          <p:cNvSpPr/>
          <p:nvPr/>
        </p:nvSpPr>
        <p:spPr>
          <a:xfrm>
            <a:off x="640080" y="1783080"/>
            <a:ext cx="2048256" cy="914400"/>
          </a:xfrm>
          <a:prstGeom prst="homePlat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0F172A"/>
                </a:solidFill>
                <a:latin typeface="Calibri"/>
              </a:rPr>
              <a:t>1  Run</a:t>
            </a:r>
          </a:p>
        </p:txBody>
      </p:sp>
      <p:sp>
        <p:nvSpPr>
          <p:cNvPr id="6" name="TextBox 5"/>
          <p:cNvSpPr txBox="1"/>
          <p:nvPr/>
        </p:nvSpPr>
        <p:spPr>
          <a:xfrm>
            <a:off x="640080" y="2834640"/>
            <a:ext cx="2048256" cy="914400"/>
          </a:xfrm>
          <a:prstGeom prst="rect">
            <a:avLst/>
          </a:prstGeom>
          <a:noFill/>
        </p:spPr>
        <p:txBody>
          <a:bodyPr wrap="square" anchor="t" lIns="45720" rIns="45720">
            <a:spAutoFit/>
          </a:bodyPr>
          <a:lstStyle/>
          <a:p>
            <a:pPr algn="ctr"/>
            <a:r>
              <a:rPr sz="1400" b="1">
                <a:solidFill>
                  <a:srgbClr val="F8FAFC"/>
                </a:solidFill>
                <a:latin typeface="Consolas"/>
              </a:rPr>
              <a:t>join-pi.cmd</a:t>
            </a:r>
          </a:p>
          <a:p>
            <a:pPr algn="ctr"/>
            <a:r>
              <a:rPr sz="1300" b="0">
                <a:solidFill>
                  <a:srgbClr val="94A3B8"/>
                </a:solidFill>
                <a:latin typeface="Calibri"/>
              </a:rPr>
              <a:t>batch / bash polyglot</a:t>
            </a:r>
          </a:p>
        </p:txBody>
      </p:sp>
      <p:sp>
        <p:nvSpPr>
          <p:cNvPr id="7" name="Chevron 6"/>
          <p:cNvSpPr/>
          <p:nvPr/>
        </p:nvSpPr>
        <p:spPr>
          <a:xfrm>
            <a:off x="2852928" y="1783080"/>
            <a:ext cx="2048256" cy="914400"/>
          </a:xfrm>
          <a:prstGeom prst="chevron">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8FAFC"/>
                </a:solidFill>
                <a:latin typeface="Calibri"/>
              </a:rPr>
              <a:t>2  Name</a:t>
            </a:r>
          </a:p>
        </p:txBody>
      </p:sp>
      <p:sp>
        <p:nvSpPr>
          <p:cNvPr id="8" name="TextBox 7"/>
          <p:cNvSpPr txBox="1"/>
          <p:nvPr/>
        </p:nvSpPr>
        <p:spPr>
          <a:xfrm>
            <a:off x="2852928" y="2834640"/>
            <a:ext cx="2048256" cy="914400"/>
          </a:xfrm>
          <a:prstGeom prst="rect">
            <a:avLst/>
          </a:prstGeom>
          <a:noFill/>
        </p:spPr>
        <p:txBody>
          <a:bodyPr wrap="square" anchor="t" lIns="45720" rIns="45720">
            <a:spAutoFit/>
          </a:bodyPr>
          <a:lstStyle/>
          <a:p>
            <a:pPr algn="ctr"/>
            <a:r>
              <a:rPr sz="1400" b="1">
                <a:solidFill>
                  <a:srgbClr val="F8FAFC"/>
                </a:solidFill>
                <a:latin typeface="Consolas"/>
              </a:rPr>
              <a:t>/api/register</a:t>
            </a:r>
          </a:p>
          <a:p>
            <a:pPr algn="ctr"/>
            <a:r>
              <a:rPr sz="1300" b="0">
                <a:solidFill>
                  <a:srgbClr val="94A3B8"/>
                </a:solidFill>
                <a:latin typeface="Calibri"/>
              </a:rPr>
              <a:t>user_os, keyed by machine ID</a:t>
            </a:r>
          </a:p>
        </p:txBody>
      </p:sp>
      <p:sp>
        <p:nvSpPr>
          <p:cNvPr id="9" name="Chevron 8"/>
          <p:cNvSpPr/>
          <p:nvPr/>
        </p:nvSpPr>
        <p:spPr>
          <a:xfrm>
            <a:off x="5065776" y="1783080"/>
            <a:ext cx="2048256" cy="914400"/>
          </a:xfrm>
          <a:prstGeom prst="chevron">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8FAFC"/>
                </a:solidFill>
                <a:latin typeface="Calibri"/>
              </a:rPr>
              <a:t>3  Install</a:t>
            </a:r>
          </a:p>
        </p:txBody>
      </p:sp>
      <p:sp>
        <p:nvSpPr>
          <p:cNvPr id="10" name="TextBox 9"/>
          <p:cNvSpPr txBox="1"/>
          <p:nvPr/>
        </p:nvSpPr>
        <p:spPr>
          <a:xfrm>
            <a:off x="5065776" y="2834640"/>
            <a:ext cx="2048256" cy="914400"/>
          </a:xfrm>
          <a:prstGeom prst="rect">
            <a:avLst/>
          </a:prstGeom>
          <a:noFill/>
        </p:spPr>
        <p:txBody>
          <a:bodyPr wrap="square" anchor="t" lIns="45720" rIns="45720">
            <a:spAutoFit/>
          </a:bodyPr>
          <a:lstStyle/>
          <a:p>
            <a:pPr algn="ctr"/>
            <a:r>
              <a:rPr sz="1400" b="1">
                <a:solidFill>
                  <a:srgbClr val="F8FAFC"/>
                </a:solidFill>
                <a:latin typeface="Consolas"/>
              </a:rPr>
              <a:t>Python + Syncthing</a:t>
            </a:r>
          </a:p>
          <a:p>
            <a:pPr algn="ctr"/>
            <a:r>
              <a:rPr sz="1300" b="0">
                <a:solidFill>
                  <a:srgbClr val="94A3B8"/>
                </a:solidFill>
                <a:latin typeface="Calibri"/>
              </a:rPr>
              <a:t>pacman · apt · dnf · winget</a:t>
            </a:r>
          </a:p>
        </p:txBody>
      </p:sp>
      <p:sp>
        <p:nvSpPr>
          <p:cNvPr id="11" name="Chevron 10"/>
          <p:cNvSpPr/>
          <p:nvPr/>
        </p:nvSpPr>
        <p:spPr>
          <a:xfrm>
            <a:off x="7278624" y="1783080"/>
            <a:ext cx="2048256" cy="914400"/>
          </a:xfrm>
          <a:prstGeom prst="chevron">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8FAFC"/>
                </a:solidFill>
                <a:latin typeface="Calibri"/>
              </a:rPr>
              <a:t>4  Pair</a:t>
            </a:r>
          </a:p>
        </p:txBody>
      </p:sp>
      <p:sp>
        <p:nvSpPr>
          <p:cNvPr id="12" name="TextBox 11"/>
          <p:cNvSpPr txBox="1"/>
          <p:nvPr/>
        </p:nvSpPr>
        <p:spPr>
          <a:xfrm>
            <a:off x="7278624" y="2834640"/>
            <a:ext cx="2048256" cy="914400"/>
          </a:xfrm>
          <a:prstGeom prst="rect">
            <a:avLst/>
          </a:prstGeom>
          <a:noFill/>
        </p:spPr>
        <p:txBody>
          <a:bodyPr wrap="square" anchor="t" lIns="45720" rIns="45720">
            <a:spAutoFit/>
          </a:bodyPr>
          <a:lstStyle/>
          <a:p>
            <a:pPr algn="ctr"/>
            <a:r>
              <a:rPr sz="1400" b="1">
                <a:solidFill>
                  <a:srgbClr val="F8FAFC"/>
                </a:solidFill>
                <a:latin typeface="Consolas"/>
              </a:rPr>
              <a:t>/api/pair</a:t>
            </a:r>
          </a:p>
          <a:p>
            <a:pPr algn="ctr"/>
            <a:r>
              <a:rPr sz="1300" b="0">
                <a:solidFill>
                  <a:srgbClr val="94A3B8"/>
                </a:solidFill>
                <a:latin typeface="Calibri"/>
              </a:rPr>
              <a:t>Syncthing REST, no SSH</a:t>
            </a:r>
          </a:p>
        </p:txBody>
      </p:sp>
      <p:sp>
        <p:nvSpPr>
          <p:cNvPr id="13" name="Chevron 12"/>
          <p:cNvSpPr/>
          <p:nvPr/>
        </p:nvSpPr>
        <p:spPr>
          <a:xfrm>
            <a:off x="9491472" y="1783080"/>
            <a:ext cx="2048256" cy="914400"/>
          </a:xfrm>
          <a:prstGeom prst="chevron">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8FAFC"/>
                </a:solidFill>
                <a:latin typeface="Calibri"/>
              </a:rPr>
              <a:t>5  Connect</a:t>
            </a:r>
          </a:p>
        </p:txBody>
      </p:sp>
      <p:sp>
        <p:nvSpPr>
          <p:cNvPr id="14" name="TextBox 13"/>
          <p:cNvSpPr txBox="1"/>
          <p:nvPr/>
        </p:nvSpPr>
        <p:spPr>
          <a:xfrm>
            <a:off x="9491472" y="2834640"/>
            <a:ext cx="2048256" cy="914400"/>
          </a:xfrm>
          <a:prstGeom prst="rect">
            <a:avLst/>
          </a:prstGeom>
          <a:noFill/>
        </p:spPr>
        <p:txBody>
          <a:bodyPr wrap="square" anchor="t" lIns="45720" rIns="45720">
            <a:spAutoFit/>
          </a:bodyPr>
          <a:lstStyle/>
          <a:p>
            <a:pPr algn="ctr"/>
            <a:r>
              <a:rPr sz="1400" b="1">
                <a:solidFill>
                  <a:srgbClr val="F8FAFC"/>
                </a:solidFill>
                <a:latin typeface="Consolas"/>
              </a:rPr>
              <a:t>connect_agents.py</a:t>
            </a:r>
          </a:p>
          <a:p>
            <a:pPr algn="ctr"/>
            <a:r>
              <a:rPr sz="1300" b="0">
                <a:solidFill>
                  <a:srgbClr val="94A3B8"/>
                </a:solidFill>
                <a:latin typeface="Calibri"/>
              </a:rPr>
              <a:t>hooks + Pi Agents app</a:t>
            </a:r>
          </a:p>
        </p:txBody>
      </p:sp>
      <p:sp>
        <p:nvSpPr>
          <p:cNvPr id="15" name="TextBox 14"/>
          <p:cNvSpPr txBox="1"/>
          <p:nvPr/>
        </p:nvSpPr>
        <p:spPr>
          <a:xfrm>
            <a:off x="640080" y="4069080"/>
            <a:ext cx="6583680" cy="2103120"/>
          </a:xfrm>
          <a:prstGeom prst="rect">
            <a:avLst/>
          </a:prstGeom>
          <a:noFill/>
        </p:spPr>
        <p:txBody>
          <a:bodyPr wrap="square" anchor="t" lIns="45720" rIns="45720">
            <a:spAutoFit/>
          </a:bodyPr>
          <a:lstStyle/>
          <a:p>
            <a:pPr>
              <a:spcAft>
                <a:spcPts val="900"/>
              </a:spcAft>
            </a:pPr>
            <a:r>
              <a:rPr sz="1600" b="1">
                <a:solidFill>
                  <a:srgbClr val="0EA5E9"/>
                </a:solidFill>
                <a:latin typeface="Calibri"/>
              </a:rPr>
              <a:t>Idempotent.  </a:t>
            </a:r>
            <a:r>
              <a:rPr sz="1600" b="0">
                <a:solidFill>
                  <a:srgbClr val="CBD5E1"/>
                </a:solidFill>
                <a:latin typeface="Calibri"/>
              </a:rPr>
              <a:t>Re-running keeps the config, the name and the pairing; it only adds what's missing.</a:t>
            </a:r>
          </a:p>
          <a:p>
            <a:pPr>
              <a:spcAft>
                <a:spcPts val="900"/>
              </a:spcAft>
            </a:pPr>
            <a:r>
              <a:rPr sz="1600" b="1">
                <a:solidFill>
                  <a:srgbClr val="0EA5E9"/>
                </a:solidFill>
                <a:latin typeface="Calibri"/>
              </a:rPr>
              <a:t>Least privilege.  </a:t>
            </a:r>
            <a:r>
              <a:rPr sz="1600" b="0">
                <a:solidFill>
                  <a:srgbClr val="CBD5E1"/>
                </a:solidFill>
                <a:latin typeface="Calibri"/>
              </a:rPr>
              <a:t>The Pi decides every storage path; a PC can't point a share elsewhere.</a:t>
            </a:r>
          </a:p>
          <a:p>
            <a:pPr>
              <a:spcAft>
                <a:spcPts val="900"/>
              </a:spcAft>
            </a:pPr>
            <a:r>
              <a:rPr sz="1600" b="1">
                <a:solidFill>
                  <a:srgbClr val="0EA5E9"/>
                </a:solidFill>
                <a:latin typeface="Calibri"/>
              </a:rPr>
              <a:t>Starts at login.  </a:t>
            </a:r>
            <a:r>
              <a:rPr sz="1600" b="0">
                <a:solidFill>
                  <a:srgbClr val="CBD5E1"/>
                </a:solidFill>
                <a:latin typeface="Calibri"/>
              </a:rPr>
              <a:t>systemd --user units on Linux, Task Scheduler on Windows.</a:t>
            </a:r>
          </a:p>
        </p:txBody>
      </p:sp>
      <p:sp>
        <p:nvSpPr>
          <p:cNvPr id="16" name="Rounded Rectangle 15"/>
          <p:cNvSpPr/>
          <p:nvPr/>
        </p:nvSpPr>
        <p:spPr>
          <a:xfrm>
            <a:off x="7680960" y="4023360"/>
            <a:ext cx="3886200" cy="1828800"/>
          </a:xfrm>
          <a:prstGeom prst="roundRect">
            <a:avLst>
              <a:gd name="adj" fmla="val 6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8" y="4169664"/>
            <a:ext cx="3483864" cy="1554480"/>
          </a:xfrm>
          <a:prstGeom prst="rect">
            <a:avLst/>
          </a:prstGeom>
          <a:noFill/>
        </p:spPr>
        <p:txBody>
          <a:bodyPr wrap="square" anchor="t" lIns="45720" rIns="45720">
            <a:spAutoFit/>
          </a:bodyPr>
          <a:lstStyle/>
          <a:p>
            <a:pPr>
              <a:spcAft>
                <a:spcPts val="600"/>
              </a:spcAft>
            </a:pPr>
            <a:r>
              <a:rPr sz="1600" b="1">
                <a:solidFill>
                  <a:srgbClr val="F8FAFC"/>
                </a:solidFill>
                <a:latin typeface="Calibri"/>
              </a:rPr>
              <a:t>Device naming</a:t>
            </a:r>
          </a:p>
          <a:p>
            <a:pPr>
              <a:spcAft>
                <a:spcPts val="300"/>
              </a:spcAft>
            </a:pPr>
            <a:r>
              <a:rPr sz="1300" b="1">
                <a:solidFill>
                  <a:srgbClr val="0EA5E9"/>
                </a:solidFill>
                <a:latin typeface="Calibri"/>
              </a:rPr>
              <a:t>soumil_linux  </a:t>
            </a:r>
            <a:r>
              <a:rPr sz="1300" b="0">
                <a:solidFill>
                  <a:srgbClr val="CBD5E1"/>
                </a:solidFill>
                <a:latin typeface="Calibri"/>
              </a:rPr>
              <a:t>first Linux PC of user soumil</a:t>
            </a:r>
          </a:p>
          <a:p>
            <a:pPr>
              <a:spcAft>
                <a:spcPts val="300"/>
              </a:spcAft>
            </a:pPr>
            <a:r>
              <a:rPr sz="1300" b="1">
                <a:solidFill>
                  <a:srgbClr val="0EA5E9"/>
                </a:solidFill>
                <a:latin typeface="Calibri"/>
              </a:rPr>
              <a:t>soumil_win  </a:t>
            </a:r>
            <a:r>
              <a:rPr sz="1300" b="0">
                <a:solidFill>
                  <a:srgbClr val="CBD5E1"/>
                </a:solidFill>
                <a:latin typeface="Calibri"/>
              </a:rPr>
              <a:t>first Windows PC</a:t>
            </a:r>
          </a:p>
          <a:p>
            <a:pPr>
              <a:spcAft>
                <a:spcPts val="300"/>
              </a:spcAft>
            </a:pPr>
            <a:r>
              <a:rPr sz="1300" b="1">
                <a:solidFill>
                  <a:srgbClr val="0EA5E9"/>
                </a:solidFill>
                <a:latin typeface="Calibri"/>
              </a:rPr>
              <a:t>soumil_win_2  </a:t>
            </a:r>
            <a:r>
              <a:rPr sz="1300" b="0">
                <a:solidFill>
                  <a:srgbClr val="CBD5E1"/>
                </a:solidFill>
                <a:latin typeface="Calibri"/>
              </a:rPr>
              <a:t>only when the name is taken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a:spAutoFit/>
          </a:bodyPr>
          <a:lstStyle/>
          <a:p>
            <a:r>
              <a:rPr sz="3200" b="1">
                <a:solidFill>
                  <a:srgbClr val="F8FAFC"/>
                </a:solidFill>
                <a:latin typeface="Calibri"/>
              </a:rPr>
              <a:t>Agent monitor: seven agents, one event schema</a:t>
            </a:r>
          </a:p>
        </p:txBody>
      </p:sp>
      <p:sp>
        <p:nvSpPr>
          <p:cNvPr id="3" name="Rectangle 2"/>
          <p:cNvSpPr/>
          <p:nvPr/>
        </p:nvSpPr>
        <p:spPr>
          <a:xfrm>
            <a:off x="640080" y="1207008"/>
            <a:ext cx="1005840" cy="6400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0911535" cy="274320"/>
          </a:xfrm>
          <a:prstGeom prst="rect">
            <a:avLst/>
          </a:prstGeom>
          <a:noFill/>
        </p:spPr>
        <p:txBody>
          <a:bodyPr wrap="none">
            <a:spAutoFit/>
          </a:bodyPr>
          <a:lstStyle/>
          <a:p>
            <a:r>
              <a:rPr sz="1100" b="1">
                <a:solidFill>
                  <a:srgbClr val="0EA5E9"/>
                </a:solidFill>
                <a:latin typeface="Calibri"/>
              </a:rPr>
              <a:t>PiNest</a:t>
            </a:r>
            <a:r>
              <a:rPr sz="1100" b="0">
                <a:solidFill>
                  <a:srgbClr val="94A3B8"/>
                </a:solidFill>
                <a:latin typeface="Calibri"/>
              </a:rPr>
              <a:t>   ·   Raspberry Pi 5 homelab   ·   5 / 8</a:t>
            </a:r>
          </a:p>
        </p:txBody>
      </p:sp>
      <p:graphicFrame>
        <p:nvGraphicFramePr>
          <p:cNvPr id="5" name="Table 4"/>
          <p:cNvGraphicFramePr>
            <a:graphicFrameLocks noGrp="1"/>
          </p:cNvGraphicFramePr>
          <p:nvPr/>
        </p:nvGraphicFramePr>
        <p:xfrm>
          <a:off x="640080" y="1691640"/>
          <a:ext cx="6949440" cy="3840480"/>
        </p:xfrm>
        <a:graphic>
          <a:graphicData uri="http://schemas.openxmlformats.org/drawingml/2006/table">
            <a:tbl>
              <a:tblPr firstRow="1" bandRow="1">
                <a:tableStyleId>{5C22544A-7EE6-4342-B048-85BDC9FD1C3A}</a:tableStyleId>
              </a:tblPr>
              <a:tblGrid>
                <a:gridCol w="1920240"/>
                <a:gridCol w="2377440"/>
                <a:gridCol w="2651760"/>
              </a:tblGrid>
              <a:tr h="548640">
                <a:tc>
                  <a:txBody>
                    <a:bodyPr/>
                    <a:lstStyle/>
                    <a:p>
                      <a:r>
                        <a:rPr sz="1400" b="1">
                          <a:solidFill>
                            <a:srgbClr val="0F172A"/>
                          </a:solidFill>
                          <a:latin typeface="Calibri"/>
                        </a:rPr>
                        <a:t>Agent</a:t>
                      </a:r>
                    </a:p>
                  </a:txBody>
                  <a:tcPr marL="91440" marR="91440">
                    <a:solidFill>
                      <a:srgbClr val="0EA5E9"/>
                    </a:solidFill>
                  </a:tcPr>
                </a:tc>
                <a:tc>
                  <a:txBody>
                    <a:bodyPr/>
                    <a:lstStyle/>
                    <a:p>
                      <a:r>
                        <a:rPr sz="1400" b="1">
                          <a:solidFill>
                            <a:srgbClr val="0F172A"/>
                          </a:solidFill>
                          <a:latin typeface="Calibri"/>
                        </a:rPr>
                        <a:t>Integration</a:t>
                      </a:r>
                    </a:p>
                  </a:txBody>
                  <a:tcPr marL="91440" marR="91440">
                    <a:solidFill>
                      <a:srgbClr val="0EA5E9"/>
                    </a:solidFill>
                  </a:tcPr>
                </a:tc>
                <a:tc>
                  <a:txBody>
                    <a:bodyPr/>
                    <a:lstStyle/>
                    <a:p>
                      <a:r>
                        <a:rPr sz="1400" b="1">
                          <a:solidFill>
                            <a:srgbClr val="0F172A"/>
                          </a:solidFill>
                          <a:latin typeface="Calibri"/>
                        </a:rPr>
                        <a:t>Signals</a:t>
                      </a:r>
                    </a:p>
                  </a:txBody>
                  <a:tcPr marL="91440" marR="91440">
                    <a:solidFill>
                      <a:srgbClr val="0EA5E9"/>
                    </a:solidFill>
                  </a:tcPr>
                </a:tc>
              </a:tr>
              <a:tr h="548640">
                <a:tc>
                  <a:txBody>
                    <a:bodyPr/>
                    <a:lstStyle/>
                    <a:p>
                      <a:r>
                        <a:rPr sz="1300" b="1">
                          <a:solidFill>
                            <a:srgbClr val="F8FAFC"/>
                          </a:solidFill>
                          <a:latin typeface="Calibri"/>
                        </a:rPr>
                        <a:t>Claude Code</a:t>
                      </a:r>
                    </a:p>
                  </a:txBody>
                  <a:tcPr marL="91440" marR="91440">
                    <a:solidFill>
                      <a:srgbClr val="1E293B"/>
                    </a:solidFill>
                  </a:tcPr>
                </a:tc>
                <a:tc>
                  <a:txBody>
                    <a:bodyPr/>
                    <a:lstStyle/>
                    <a:p>
                      <a:r>
                        <a:rPr sz="1300" b="0">
                          <a:solidFill>
                            <a:srgbClr val="CBD5E1"/>
                          </a:solidFill>
                          <a:latin typeface="Calibri"/>
                        </a:rPr>
                        <a:t>hooks · settings.json</a:t>
                      </a:r>
                    </a:p>
                  </a:txBody>
                  <a:tcPr marL="91440" marR="91440">
                    <a:solidFill>
                      <a:srgbClr val="1E293B"/>
                    </a:solidFill>
                  </a:tcPr>
                </a:tc>
                <a:tc>
                  <a:txBody>
                    <a:bodyPr/>
                    <a:lstStyle/>
                    <a:p>
                      <a:r>
                        <a:rPr sz="1300" b="0">
                          <a:solidFill>
                            <a:srgbClr val="CBD5E1"/>
                          </a:solidFill>
                          <a:latin typeface="Calibri"/>
                        </a:rPr>
                        <a:t>SessionStart · PreToolUse · Notification · Stop</a:t>
                      </a:r>
                    </a:p>
                  </a:txBody>
                  <a:tcPr marL="91440" marR="91440">
                    <a:solidFill>
                      <a:srgbClr val="1E293B"/>
                    </a:solidFill>
                  </a:tcPr>
                </a:tc>
              </a:tr>
              <a:tr h="548640">
                <a:tc>
                  <a:txBody>
                    <a:bodyPr/>
                    <a:lstStyle/>
                    <a:p>
                      <a:r>
                        <a:rPr sz="1300" b="1">
                          <a:solidFill>
                            <a:srgbClr val="F8FAFC"/>
                          </a:solidFill>
                          <a:latin typeface="Calibri"/>
                        </a:rPr>
                        <a:t>Codex</a:t>
                      </a:r>
                    </a:p>
                  </a:txBody>
                  <a:tcPr marL="91440" marR="91440">
                    <a:solidFill>
                      <a:srgbClr val="0F172A"/>
                    </a:solidFill>
                  </a:tcPr>
                </a:tc>
                <a:tc>
                  <a:txBody>
                    <a:bodyPr/>
                    <a:lstStyle/>
                    <a:p>
                      <a:r>
                        <a:rPr sz="1300" b="0">
                          <a:solidFill>
                            <a:srgbClr val="CBD5E1"/>
                          </a:solidFill>
                          <a:latin typeface="Calibri"/>
                        </a:rPr>
                        <a:t>hooks.json (trusted via /hooks)</a:t>
                      </a:r>
                    </a:p>
                  </a:txBody>
                  <a:tcPr marL="91440" marR="91440">
                    <a:solidFill>
                      <a:srgbClr val="0F172A"/>
                    </a:solidFill>
                  </a:tcPr>
                </a:tc>
                <a:tc>
                  <a:txBody>
                    <a:bodyPr/>
                    <a:lstStyle/>
                    <a:p>
                      <a:r>
                        <a:rPr sz="1300" b="0">
                          <a:solidFill>
                            <a:srgbClr val="CBD5E1"/>
                          </a:solidFill>
                          <a:latin typeface="Calibri"/>
                        </a:rPr>
                        <a:t>PreToolUse · PermissionRequest · Stop</a:t>
                      </a:r>
                    </a:p>
                  </a:txBody>
                  <a:tcPr marL="91440" marR="91440">
                    <a:solidFill>
                      <a:srgbClr val="0F172A"/>
                    </a:solidFill>
                  </a:tcPr>
                </a:tc>
              </a:tr>
              <a:tr h="548640">
                <a:tc>
                  <a:txBody>
                    <a:bodyPr/>
                    <a:lstStyle/>
                    <a:p>
                      <a:r>
                        <a:rPr sz="1300" b="1">
                          <a:solidFill>
                            <a:srgbClr val="F8FAFC"/>
                          </a:solidFill>
                          <a:latin typeface="Calibri"/>
                        </a:rPr>
                        <a:t>Copilot CLI</a:t>
                      </a:r>
                    </a:p>
                  </a:txBody>
                  <a:tcPr marL="91440" marR="91440">
                    <a:solidFill>
                      <a:srgbClr val="1E293B"/>
                    </a:solidFill>
                  </a:tcPr>
                </a:tc>
                <a:tc>
                  <a:txBody>
                    <a:bodyPr/>
                    <a:lstStyle/>
                    <a:p>
                      <a:r>
                        <a:rPr sz="1300" b="0">
                          <a:solidFill>
                            <a:srgbClr val="CBD5E1"/>
                          </a:solidFill>
                          <a:latin typeface="Calibri"/>
                        </a:rPr>
                        <a:t>~/.copilot/hooks/*.json</a:t>
                      </a:r>
                    </a:p>
                  </a:txBody>
                  <a:tcPr marL="91440" marR="91440">
                    <a:solidFill>
                      <a:srgbClr val="1E293B"/>
                    </a:solidFill>
                  </a:tcPr>
                </a:tc>
                <a:tc>
                  <a:txBody>
                    <a:bodyPr/>
                    <a:lstStyle/>
                    <a:p>
                      <a:r>
                        <a:rPr sz="1300" b="0">
                          <a:solidFill>
                            <a:srgbClr val="CBD5E1"/>
                          </a:solidFill>
                          <a:latin typeface="Calibri"/>
                        </a:rPr>
                        <a:t>preToolUse · permissionRequest · agentStop</a:t>
                      </a:r>
                    </a:p>
                  </a:txBody>
                  <a:tcPr marL="91440" marR="91440">
                    <a:solidFill>
                      <a:srgbClr val="1E293B"/>
                    </a:solidFill>
                  </a:tcPr>
                </a:tc>
              </a:tr>
              <a:tr h="548640">
                <a:tc>
                  <a:txBody>
                    <a:bodyPr/>
                    <a:lstStyle/>
                    <a:p>
                      <a:r>
                        <a:rPr sz="1300" b="1">
                          <a:solidFill>
                            <a:srgbClr val="F8FAFC"/>
                          </a:solidFill>
                          <a:latin typeface="Calibri"/>
                        </a:rPr>
                        <a:t>Crush</a:t>
                      </a:r>
                    </a:p>
                  </a:txBody>
                  <a:tcPr marL="91440" marR="91440">
                    <a:solidFill>
                      <a:srgbClr val="0F172A"/>
                    </a:solidFill>
                  </a:tcPr>
                </a:tc>
                <a:tc>
                  <a:txBody>
                    <a:bodyPr/>
                    <a:lstStyle/>
                    <a:p>
                      <a:r>
                        <a:rPr sz="1300" b="0">
                          <a:solidFill>
                            <a:srgbClr val="CBD5E1"/>
                          </a:solidFill>
                          <a:latin typeface="Calibri"/>
                        </a:rPr>
                        <a:t>crush.json hooks</a:t>
                      </a:r>
                    </a:p>
                  </a:txBody>
                  <a:tcPr marL="91440" marR="91440">
                    <a:solidFill>
                      <a:srgbClr val="0F172A"/>
                    </a:solidFill>
                  </a:tcPr>
                </a:tc>
                <a:tc>
                  <a:txBody>
                    <a:bodyPr/>
                    <a:lstStyle/>
                    <a:p>
                      <a:r>
                        <a:rPr sz="1300" b="0">
                          <a:solidFill>
                            <a:srgbClr val="CBD5E1"/>
                          </a:solidFill>
                          <a:latin typeface="Calibri"/>
                        </a:rPr>
                        <a:t>PreToolUse</a:t>
                      </a:r>
                    </a:p>
                  </a:txBody>
                  <a:tcPr marL="91440" marR="91440">
                    <a:solidFill>
                      <a:srgbClr val="0F172A"/>
                    </a:solidFill>
                  </a:tcPr>
                </a:tc>
              </a:tr>
              <a:tr h="548640">
                <a:tc>
                  <a:txBody>
                    <a:bodyPr/>
                    <a:lstStyle/>
                    <a:p>
                      <a:r>
                        <a:rPr sz="1300" b="1">
                          <a:solidFill>
                            <a:srgbClr val="F8FAFC"/>
                          </a:solidFill>
                          <a:latin typeface="Calibri"/>
                        </a:rPr>
                        <a:t>OpenCode</a:t>
                      </a:r>
                    </a:p>
                  </a:txBody>
                  <a:tcPr marL="91440" marR="91440">
                    <a:solidFill>
                      <a:srgbClr val="1E293B"/>
                    </a:solidFill>
                  </a:tcPr>
                </a:tc>
                <a:tc>
                  <a:txBody>
                    <a:bodyPr/>
                    <a:lstStyle/>
                    <a:p>
                      <a:r>
                        <a:rPr sz="1300" b="0">
                          <a:solidFill>
                            <a:srgbClr val="CBD5E1"/>
                          </a:solidFill>
                          <a:latin typeface="Calibri"/>
                        </a:rPr>
                        <a:t>JS plugin (Bun)</a:t>
                      </a:r>
                    </a:p>
                  </a:txBody>
                  <a:tcPr marL="91440" marR="91440">
                    <a:solidFill>
                      <a:srgbClr val="1E293B"/>
                    </a:solidFill>
                  </a:tcPr>
                </a:tc>
                <a:tc>
                  <a:txBody>
                    <a:bodyPr/>
                    <a:lstStyle/>
                    <a:p>
                      <a:r>
                        <a:rPr sz="1300" b="0">
                          <a:solidFill>
                            <a:srgbClr val="CBD5E1"/>
                          </a:solidFill>
                          <a:latin typeface="Calibri"/>
                        </a:rPr>
                        <a:t>tool.execute.before · session.idle</a:t>
                      </a:r>
                    </a:p>
                  </a:txBody>
                  <a:tcPr marL="91440" marR="91440">
                    <a:solidFill>
                      <a:srgbClr val="1E293B"/>
                    </a:solidFill>
                  </a:tcPr>
                </a:tc>
              </a:tr>
              <a:tr h="548640">
                <a:tc>
                  <a:txBody>
                    <a:bodyPr/>
                    <a:lstStyle/>
                    <a:p>
                      <a:r>
                        <a:rPr sz="1300" b="1">
                          <a:solidFill>
                            <a:srgbClr val="F8FAFC"/>
                          </a:solidFill>
                          <a:latin typeface="Calibri"/>
                        </a:rPr>
                        <a:t>Gemini / Antigravity</a:t>
                      </a:r>
                    </a:p>
                  </a:txBody>
                  <a:tcPr marL="91440" marR="91440">
                    <a:solidFill>
                      <a:srgbClr val="0F172A"/>
                    </a:solidFill>
                  </a:tcPr>
                </a:tc>
                <a:tc>
                  <a:txBody>
                    <a:bodyPr/>
                    <a:lstStyle/>
                    <a:p>
                      <a:r>
                        <a:rPr sz="1300" b="0">
                          <a:solidFill>
                            <a:srgbClr val="CBD5E1"/>
                          </a:solidFill>
                          <a:latin typeface="Calibri"/>
                        </a:rPr>
                        <a:t>~/.gemini/settings.json</a:t>
                      </a:r>
                    </a:p>
                  </a:txBody>
                  <a:tcPr marL="91440" marR="91440">
                    <a:solidFill>
                      <a:srgbClr val="0F172A"/>
                    </a:solidFill>
                  </a:tcPr>
                </a:tc>
                <a:tc>
                  <a:txBody>
                    <a:bodyPr/>
                    <a:lstStyle/>
                    <a:p>
                      <a:r>
                        <a:rPr sz="1300" b="0">
                          <a:solidFill>
                            <a:srgbClr val="CBD5E1"/>
                          </a:solidFill>
                          <a:latin typeface="Calibri"/>
                        </a:rPr>
                        <a:t>BeforeTool · Notification · AfterAgent</a:t>
                      </a:r>
                    </a:p>
                  </a:txBody>
                  <a:tcPr marL="91440" marR="91440">
                    <a:solidFill>
                      <a:srgbClr val="0F172A"/>
                    </a:solidFill>
                  </a:tcPr>
                </a:tc>
              </a:tr>
            </a:tbl>
          </a:graphicData>
        </a:graphic>
      </p:graphicFrame>
      <p:sp>
        <p:nvSpPr>
          <p:cNvPr id="6" name="Rounded Rectangle 5"/>
          <p:cNvSpPr/>
          <p:nvPr/>
        </p:nvSpPr>
        <p:spPr>
          <a:xfrm>
            <a:off x="8001000" y="1691640"/>
            <a:ext cx="3566160" cy="749808"/>
          </a:xfrm>
          <a:prstGeom prst="roundRect">
            <a:avLst>
              <a:gd name="adj" fmla="val 12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83880" y="1746504"/>
            <a:ext cx="3200400" cy="658368"/>
          </a:xfrm>
          <a:prstGeom prst="rect">
            <a:avLst/>
          </a:prstGeom>
          <a:noFill/>
        </p:spPr>
        <p:txBody>
          <a:bodyPr wrap="square" anchor="ctr" lIns="45720" rIns="45720">
            <a:spAutoFit/>
          </a:bodyPr>
          <a:lstStyle/>
          <a:p>
            <a:r>
              <a:rPr sz="1500" b="1">
                <a:solidFill>
                  <a:srgbClr val="F8FAFC"/>
                </a:solidFill>
                <a:latin typeface="Calibri"/>
              </a:rPr>
              <a:t>Hook / plugin</a:t>
            </a:r>
          </a:p>
          <a:p>
            <a:r>
              <a:rPr sz="1200" b="0">
                <a:solidFill>
                  <a:srgbClr val="94A3B8"/>
                </a:solidFill>
                <a:latin typeface="Calibri"/>
              </a:rPr>
              <a:t>agent event</a:t>
            </a:r>
          </a:p>
        </p:txBody>
      </p:sp>
      <p:sp>
        <p:nvSpPr>
          <p:cNvPr id="8" name="Rounded Rectangle 7"/>
          <p:cNvSpPr/>
          <p:nvPr/>
        </p:nvSpPr>
        <p:spPr>
          <a:xfrm>
            <a:off x="8001000" y="2679192"/>
            <a:ext cx="3566160" cy="749808"/>
          </a:xfrm>
          <a:prstGeom prst="roundRect">
            <a:avLst>
              <a:gd name="adj" fmla="val 12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2734056"/>
            <a:ext cx="3200400" cy="658368"/>
          </a:xfrm>
          <a:prstGeom prst="rect">
            <a:avLst/>
          </a:prstGeom>
          <a:noFill/>
        </p:spPr>
        <p:txBody>
          <a:bodyPr wrap="square" anchor="ctr" lIns="45720" rIns="45720">
            <a:spAutoFit/>
          </a:bodyPr>
          <a:lstStyle/>
          <a:p>
            <a:r>
              <a:rPr sz="1500" b="1">
                <a:solidFill>
                  <a:srgbClr val="F8FAFC"/>
                </a:solidFill>
                <a:latin typeface="Consolas"/>
              </a:rPr>
              <a:t>report_event.py</a:t>
            </a:r>
          </a:p>
          <a:p>
            <a:r>
              <a:rPr sz="1200" b="0">
                <a:solidFill>
                  <a:srgbClr val="94A3B8"/>
                </a:solidFill>
                <a:latin typeface="Calibri"/>
              </a:rPr>
              <a:t>normalise · redact · 1 s timeout</a:t>
            </a:r>
          </a:p>
        </p:txBody>
      </p:sp>
      <p:cxnSp>
        <p:nvCxnSpPr>
          <p:cNvPr id="10" name="Connector 9"/>
          <p:cNvCxnSpPr/>
          <p:nvPr/>
        </p:nvCxnSpPr>
        <p:spPr>
          <a:xfrm>
            <a:off x="9784080" y="2441448"/>
            <a:ext cx="0" cy="237744"/>
          </a:xfrm>
          <a:prstGeom prst="line">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01000" y="3666744"/>
            <a:ext cx="3566160" cy="749808"/>
          </a:xfrm>
          <a:prstGeom prst="roundRect">
            <a:avLst>
              <a:gd name="adj" fmla="val 12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3721608"/>
            <a:ext cx="3200400" cy="658368"/>
          </a:xfrm>
          <a:prstGeom prst="rect">
            <a:avLst/>
          </a:prstGeom>
          <a:noFill/>
        </p:spPr>
        <p:txBody>
          <a:bodyPr wrap="square" anchor="ctr" lIns="45720" rIns="45720">
            <a:spAutoFit/>
          </a:bodyPr>
          <a:lstStyle/>
          <a:p>
            <a:r>
              <a:rPr sz="1500" b="1">
                <a:solidFill>
                  <a:srgbClr val="F8FAFC"/>
                </a:solidFill>
                <a:latin typeface="Consolas"/>
              </a:rPr>
              <a:t>POST /api/agent-events</a:t>
            </a:r>
          </a:p>
          <a:p>
            <a:r>
              <a:rPr sz="1200" b="0">
                <a:solidFill>
                  <a:srgbClr val="94A3B8"/>
                </a:solidFill>
                <a:latin typeface="Calibri"/>
              </a:rPr>
              <a:t>SQLite events table</a:t>
            </a:r>
          </a:p>
        </p:txBody>
      </p:sp>
      <p:cxnSp>
        <p:nvCxnSpPr>
          <p:cNvPr id="13" name="Connector 12"/>
          <p:cNvCxnSpPr/>
          <p:nvPr/>
        </p:nvCxnSpPr>
        <p:spPr>
          <a:xfrm>
            <a:off x="9784080" y="3429000"/>
            <a:ext cx="0" cy="237744"/>
          </a:xfrm>
          <a:prstGeom prst="line">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01000" y="4654296"/>
            <a:ext cx="3566160" cy="749808"/>
          </a:xfrm>
          <a:prstGeom prst="roundRect">
            <a:avLst>
              <a:gd name="adj" fmla="val 12000"/>
            </a:avLst>
          </a:prstGeom>
          <a:solidFill>
            <a:srgbClr val="1E293B"/>
          </a:solidFill>
          <a:ln w="15875">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4709160"/>
            <a:ext cx="3200400" cy="658368"/>
          </a:xfrm>
          <a:prstGeom prst="rect">
            <a:avLst/>
          </a:prstGeom>
          <a:noFill/>
        </p:spPr>
        <p:txBody>
          <a:bodyPr wrap="square" anchor="ctr" lIns="45720" rIns="45720">
            <a:spAutoFit/>
          </a:bodyPr>
          <a:lstStyle/>
          <a:p>
            <a:r>
              <a:rPr sz="1500" b="1">
                <a:solidFill>
                  <a:srgbClr val="F8FAFC"/>
                </a:solidFill>
                <a:latin typeface="Consolas"/>
              </a:rPr>
              <a:t>describe()</a:t>
            </a:r>
          </a:p>
          <a:p>
            <a:r>
              <a:rPr sz="1200" b="0">
                <a:solidFill>
                  <a:srgbClr val="94A3B8"/>
                </a:solidFill>
                <a:latin typeface="Calibri"/>
              </a:rPr>
              <a:t>“Editing app.py”</a:t>
            </a:r>
          </a:p>
        </p:txBody>
      </p:sp>
      <p:cxnSp>
        <p:nvCxnSpPr>
          <p:cNvPr id="16" name="Connector 15"/>
          <p:cNvCxnSpPr/>
          <p:nvPr/>
        </p:nvCxnSpPr>
        <p:spPr>
          <a:xfrm>
            <a:off x="9784080" y="4416552"/>
            <a:ext cx="0" cy="237744"/>
          </a:xfrm>
          <a:prstGeom prst="line">
            <a:avLst/>
          </a:prstGeom>
          <a:ln w="25400">
            <a:solidFill>
              <a:srgbClr val="0EA5E9"/>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a:spAutoFit/>
          </a:bodyPr>
          <a:lstStyle/>
          <a:p>
            <a:r>
              <a:rPr sz="3200" b="1">
                <a:solidFill>
                  <a:srgbClr val="F8FAFC"/>
                </a:solidFill>
                <a:latin typeface="Calibri"/>
              </a:rPr>
              <a:t>Musik &amp; picloud: stdlib Python, real HTTP semantics</a:t>
            </a:r>
          </a:p>
        </p:txBody>
      </p:sp>
      <p:sp>
        <p:nvSpPr>
          <p:cNvPr id="3" name="Rectangle 2"/>
          <p:cNvSpPr/>
          <p:nvPr/>
        </p:nvSpPr>
        <p:spPr>
          <a:xfrm>
            <a:off x="640080" y="1207008"/>
            <a:ext cx="1005840" cy="6400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0911535" cy="274320"/>
          </a:xfrm>
          <a:prstGeom prst="rect">
            <a:avLst/>
          </a:prstGeom>
          <a:noFill/>
        </p:spPr>
        <p:txBody>
          <a:bodyPr wrap="none">
            <a:spAutoFit/>
          </a:bodyPr>
          <a:lstStyle/>
          <a:p>
            <a:r>
              <a:rPr sz="1100" b="1">
                <a:solidFill>
                  <a:srgbClr val="0EA5E9"/>
                </a:solidFill>
                <a:latin typeface="Calibri"/>
              </a:rPr>
              <a:t>PiNest</a:t>
            </a:r>
            <a:r>
              <a:rPr sz="1100" b="0">
                <a:solidFill>
                  <a:srgbClr val="94A3B8"/>
                </a:solidFill>
                <a:latin typeface="Calibri"/>
              </a:rPr>
              <a:t>   ·   Raspberry Pi 5 homelab   ·   6 / 8</a:t>
            </a:r>
          </a:p>
        </p:txBody>
      </p:sp>
      <p:sp>
        <p:nvSpPr>
          <p:cNvPr id="5" name="Rounded Rectangle 4"/>
          <p:cNvSpPr/>
          <p:nvPr/>
        </p:nvSpPr>
        <p:spPr>
          <a:xfrm>
            <a:off x="640080" y="1691640"/>
            <a:ext cx="5349240" cy="4023360"/>
          </a:xfrm>
          <a:prstGeom prst="roundRect">
            <a:avLst>
              <a:gd name="adj" fmla="val 6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37944"/>
            <a:ext cx="4946904" cy="3749040"/>
          </a:xfrm>
          <a:prstGeom prst="rect">
            <a:avLst/>
          </a:prstGeom>
          <a:noFill/>
        </p:spPr>
        <p:txBody>
          <a:bodyPr wrap="square" anchor="t" lIns="45720" rIns="45720">
            <a:spAutoFit/>
          </a:bodyPr>
          <a:lstStyle/>
          <a:p>
            <a:pPr>
              <a:spcAft>
                <a:spcPts val="600"/>
              </a:spcAft>
            </a:pPr>
            <a:r>
              <a:rPr sz="1800" b="1">
                <a:solidFill>
                  <a:srgbClr val="0EA5E9"/>
                </a:solidFill>
                <a:latin typeface="Calibri"/>
              </a:rPr>
              <a:t>Musik  ·  :8080</a:t>
            </a:r>
          </a:p>
          <a:p>
            <a:pPr>
              <a:spcAft>
                <a:spcPts val="300"/>
              </a:spcAft>
            </a:pPr>
            <a:r>
              <a:rPr sz="1500" b="1">
                <a:solidFill>
                  <a:srgbClr val="0EA5E9"/>
                </a:solidFill>
                <a:latin typeface="Calibri"/>
              </a:rPr>
              <a:t>HTTP Range / 206.  </a:t>
            </a:r>
            <a:r>
              <a:rPr sz="1500" b="0">
                <a:solidFill>
                  <a:srgbClr val="CBD5E1"/>
                </a:solidFill>
                <a:latin typeface="Calibri"/>
              </a:rPr>
              <a:t>Progressive streaming and instant seeking.</a:t>
            </a:r>
          </a:p>
          <a:p>
            <a:pPr>
              <a:spcAft>
                <a:spcPts val="300"/>
              </a:spcAft>
            </a:pPr>
            <a:r>
              <a:rPr sz="1500" b="1">
                <a:solidFill>
                  <a:srgbClr val="0EA5E9"/>
                </a:solidFill>
                <a:latin typeface="Calibri"/>
              </a:rPr>
              <a:t>Library scan.  </a:t>
            </a:r>
            <a:r>
              <a:rPr sz="1500" b="0">
                <a:solidFill>
                  <a:srgbClr val="CBD5E1"/>
                </a:solidFill>
                <a:latin typeface="Calibri"/>
              </a:rPr>
              <a:t>Tags, covers, artists and albums from /srv/nas/music.</a:t>
            </a:r>
          </a:p>
          <a:p>
            <a:pPr>
              <a:spcAft>
                <a:spcPts val="300"/>
              </a:spcAft>
            </a:pPr>
            <a:r>
              <a:rPr sz="1500" b="1">
                <a:solidFill>
                  <a:srgbClr val="0EA5E9"/>
                </a:solidFill>
                <a:latin typeface="Calibri"/>
              </a:rPr>
              <a:t>Likes &amp; queue.  </a:t>
            </a:r>
            <a:r>
              <a:rPr sz="1500" b="0">
                <a:solidFill>
                  <a:srgbClr val="CBD5E1"/>
                </a:solidFill>
                <a:latin typeface="Calibri"/>
              </a:rPr>
              <a:t>Shared across devices via a small JSON API.</a:t>
            </a:r>
          </a:p>
          <a:p>
            <a:pPr>
              <a:spcAft>
                <a:spcPts val="300"/>
              </a:spcAft>
            </a:pPr>
            <a:r>
              <a:rPr sz="1500" b="1">
                <a:solidFill>
                  <a:srgbClr val="0EA5E9"/>
                </a:solidFill>
                <a:latin typeface="Calibri"/>
              </a:rPr>
              <a:t>Media Session API.  </a:t>
            </a:r>
            <a:r>
              <a:rPr sz="1500" b="0">
                <a:solidFill>
                  <a:srgbClr val="CBD5E1"/>
                </a:solidFill>
                <a:latin typeface="Calibri"/>
              </a:rPr>
              <a:t>Lock-screen and media-key controls.</a:t>
            </a:r>
          </a:p>
          <a:p>
            <a:pPr>
              <a:spcAft>
                <a:spcPts val="300"/>
              </a:spcAft>
            </a:pPr>
            <a:r>
              <a:rPr sz="1500" b="1">
                <a:solidFill>
                  <a:srgbClr val="0EA5E9"/>
                </a:solidFill>
                <a:latin typeface="Calibri"/>
              </a:rPr>
              <a:t>PWA manifest.  </a:t>
            </a:r>
            <a:r>
              <a:rPr sz="1500" b="0">
                <a:solidFill>
                  <a:srgbClr val="CBD5E1"/>
                </a:solidFill>
                <a:latin typeface="Calibri"/>
              </a:rPr>
              <a:t>Installable on phones like a native app.</a:t>
            </a:r>
          </a:p>
        </p:txBody>
      </p:sp>
      <p:sp>
        <p:nvSpPr>
          <p:cNvPr id="7" name="Rounded Rectangle 6"/>
          <p:cNvSpPr/>
          <p:nvPr/>
        </p:nvSpPr>
        <p:spPr>
          <a:xfrm>
            <a:off x="6263640" y="1691640"/>
            <a:ext cx="5349240" cy="4023360"/>
          </a:xfrm>
          <a:prstGeom prst="roundRect">
            <a:avLst>
              <a:gd name="adj" fmla="val 6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1837944"/>
            <a:ext cx="4946904" cy="3749040"/>
          </a:xfrm>
          <a:prstGeom prst="rect">
            <a:avLst/>
          </a:prstGeom>
          <a:noFill/>
        </p:spPr>
        <p:txBody>
          <a:bodyPr wrap="square" anchor="t" lIns="45720" rIns="45720">
            <a:spAutoFit/>
          </a:bodyPr>
          <a:lstStyle/>
          <a:p>
            <a:pPr>
              <a:spcAft>
                <a:spcPts val="600"/>
              </a:spcAft>
            </a:pPr>
            <a:r>
              <a:rPr sz="1800" b="1">
                <a:solidFill>
                  <a:srgbClr val="0EA5E9"/>
                </a:solidFill>
                <a:latin typeface="Calibri"/>
              </a:rPr>
              <a:t>picloud  ·  :80</a:t>
            </a:r>
          </a:p>
          <a:p>
            <a:pPr>
              <a:spcAft>
                <a:spcPts val="300"/>
              </a:spcAft>
            </a:pPr>
            <a:r>
              <a:rPr sz="1500" b="1">
                <a:solidFill>
                  <a:srgbClr val="0EA5E9"/>
                </a:solidFill>
                <a:latin typeface="Calibri"/>
              </a:rPr>
              <a:t>Browse &amp; download.  </a:t>
            </a:r>
            <a:r>
              <a:rPr sz="1500" b="0">
                <a:solidFill>
                  <a:srgbClr val="CBD5E1"/>
                </a:solidFill>
                <a:latin typeface="Calibri"/>
              </a:rPr>
              <a:t>Range-capable downloads, inline preview.</a:t>
            </a:r>
          </a:p>
          <a:p>
            <a:pPr>
              <a:spcAft>
                <a:spcPts val="300"/>
              </a:spcAft>
            </a:pPr>
            <a:r>
              <a:rPr sz="1500" b="1">
                <a:solidFill>
                  <a:srgbClr val="0EA5E9"/>
                </a:solidFill>
                <a:latin typeface="Calibri"/>
              </a:rPr>
              <a:t>Upload with progress.  </a:t>
            </a:r>
            <a:r>
              <a:rPr sz="1500" b="0">
                <a:solidFill>
                  <a:srgbClr val="CBD5E1"/>
                </a:solidFill>
                <a:latin typeface="Calibri"/>
              </a:rPr>
              <a:t>XMLHttpRequest progress events, folder uploads.</a:t>
            </a:r>
          </a:p>
          <a:p>
            <a:pPr>
              <a:spcAft>
                <a:spcPts val="300"/>
              </a:spcAft>
            </a:pPr>
            <a:r>
              <a:rPr sz="1500" b="1">
                <a:solidFill>
                  <a:srgbClr val="0EA5E9"/>
                </a:solidFill>
                <a:latin typeface="Calibri"/>
              </a:rPr>
              <a:t>Path-traversal guard.  </a:t>
            </a:r>
            <a:r>
              <a:rPr sz="1500" b="0">
                <a:solidFill>
                  <a:srgbClr val="CBD5E1"/>
                </a:solidFill>
                <a:latin typeface="Calibri"/>
              </a:rPr>
              <a:t>Every path resolved and checked against the root.</a:t>
            </a:r>
          </a:p>
          <a:p>
            <a:pPr>
              <a:spcAft>
                <a:spcPts val="300"/>
              </a:spcAft>
            </a:pPr>
            <a:r>
              <a:rPr sz="1500" b="1">
                <a:solidFill>
                  <a:srgbClr val="0EA5E9"/>
                </a:solidFill>
                <a:latin typeface="Calibri"/>
              </a:rPr>
              <a:t>Disk usage.  </a:t>
            </a:r>
            <a:r>
              <a:rPr sz="1500" b="0">
                <a:solidFill>
                  <a:srgbClr val="CBD5E1"/>
                </a:solidFill>
                <a:latin typeface="Calibri"/>
              </a:rPr>
              <a:t>Free / total space from the SSD, live.</a:t>
            </a:r>
          </a:p>
          <a:p>
            <a:pPr>
              <a:spcAft>
                <a:spcPts val="300"/>
              </a:spcAft>
            </a:pPr>
            <a:r>
              <a:rPr sz="1500" b="1">
                <a:solidFill>
                  <a:srgbClr val="0EA5E9"/>
                </a:solidFill>
                <a:latin typeface="Calibri"/>
              </a:rPr>
              <a:t>Zero dependencies.  </a:t>
            </a:r>
            <a:r>
              <a:rPr sz="1500" b="0">
                <a:solidFill>
                  <a:srgbClr val="CBD5E1"/>
                </a:solidFill>
                <a:latin typeface="Calibri"/>
              </a:rPr>
              <a:t>One app.py, one systemd unit.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a:spAutoFit/>
          </a:bodyPr>
          <a:lstStyle/>
          <a:p>
            <a:r>
              <a:rPr sz="3200" b="1">
                <a:solidFill>
                  <a:srgbClr val="F8FAFC"/>
                </a:solidFill>
                <a:latin typeface="Calibri"/>
              </a:rPr>
              <a:t>Touch-first UI: designed for a 480×320 resistive screen</a:t>
            </a:r>
          </a:p>
        </p:txBody>
      </p:sp>
      <p:sp>
        <p:nvSpPr>
          <p:cNvPr id="3" name="Rectangle 2"/>
          <p:cNvSpPr/>
          <p:nvPr/>
        </p:nvSpPr>
        <p:spPr>
          <a:xfrm>
            <a:off x="640080" y="1207008"/>
            <a:ext cx="1005840" cy="6400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0911535" cy="274320"/>
          </a:xfrm>
          <a:prstGeom prst="rect">
            <a:avLst/>
          </a:prstGeom>
          <a:noFill/>
        </p:spPr>
        <p:txBody>
          <a:bodyPr wrap="none">
            <a:spAutoFit/>
          </a:bodyPr>
          <a:lstStyle/>
          <a:p>
            <a:r>
              <a:rPr sz="1100" b="1">
                <a:solidFill>
                  <a:srgbClr val="0EA5E9"/>
                </a:solidFill>
                <a:latin typeface="Calibri"/>
              </a:rPr>
              <a:t>PiNest</a:t>
            </a:r>
            <a:r>
              <a:rPr sz="1100" b="0">
                <a:solidFill>
                  <a:srgbClr val="94A3B8"/>
                </a:solidFill>
                <a:latin typeface="Calibri"/>
              </a:rPr>
              <a:t>   ·   Raspberry Pi 5 homelab   ·   7 / 8</a:t>
            </a:r>
          </a:p>
        </p:txBody>
      </p:sp>
      <p:sp>
        <p:nvSpPr>
          <p:cNvPr id="5" name="TextBox 4"/>
          <p:cNvSpPr txBox="1"/>
          <p:nvPr/>
        </p:nvSpPr>
        <p:spPr>
          <a:xfrm>
            <a:off x="640080" y="1645920"/>
            <a:ext cx="6766560" cy="4480560"/>
          </a:xfrm>
          <a:prstGeom prst="rect">
            <a:avLst/>
          </a:prstGeom>
          <a:noFill/>
        </p:spPr>
        <p:txBody>
          <a:bodyPr wrap="square" anchor="t" lIns="45720" rIns="45720">
            <a:spAutoFit/>
          </a:bodyPr>
          <a:lstStyle/>
          <a:p>
            <a:pPr>
              <a:spcAft>
                <a:spcPts val="1000"/>
              </a:spcAft>
            </a:pPr>
            <a:r>
              <a:rPr sz="1600" b="1">
                <a:solidFill>
                  <a:srgbClr val="0EA5E9"/>
                </a:solidFill>
                <a:latin typeface="Calibri"/>
              </a:rPr>
              <a:t>Kiosk mode.  </a:t>
            </a:r>
            <a:r>
              <a:rPr sz="1600" b="0">
                <a:solidFill>
                  <a:srgbClr val="CBD5E1"/>
                </a:solidFill>
                <a:latin typeface="Calibri"/>
              </a:rPr>
              <a:t>chromium --kiosk --app, launched from desktop icons; no browser chrome.</a:t>
            </a:r>
          </a:p>
          <a:p>
            <a:pPr>
              <a:spcAft>
                <a:spcPts val="1000"/>
              </a:spcAft>
            </a:pPr>
            <a:r>
              <a:rPr sz="1600" b="1">
                <a:solidFill>
                  <a:srgbClr val="0EA5E9"/>
                </a:solidFill>
                <a:latin typeface="Calibri"/>
              </a:rPr>
              <a:t>Tap-only design.  </a:t>
            </a:r>
            <a:r>
              <a:rPr sz="1600" b="0">
                <a:solidFill>
                  <a:srgbClr val="CBD5E1"/>
                </a:solidFill>
                <a:latin typeface="Calibri"/>
              </a:rPr>
              <a:t>48 px+ targets, page buttons instead of drag-scrolling, no typing.</a:t>
            </a:r>
          </a:p>
          <a:p>
            <a:pPr>
              <a:spcAft>
                <a:spcPts val="1000"/>
              </a:spcAft>
            </a:pPr>
            <a:r>
              <a:rPr sz="1600" b="1">
                <a:solidFill>
                  <a:srgbClr val="0EA5E9"/>
                </a:solidFill>
                <a:latin typeface="Calibri"/>
              </a:rPr>
              <a:t>Progressive enhancement.  </a:t>
            </a:r>
            <a:r>
              <a:rPr sz="1600" b="0">
                <a:solidFill>
                  <a:srgbClr val="CBD5E1"/>
                </a:solidFill>
                <a:latin typeface="Calibri"/>
              </a:rPr>
              <a:t>?pi=1 switches the layout; laptops and phones are untouched.</a:t>
            </a:r>
          </a:p>
          <a:p>
            <a:pPr>
              <a:spcAft>
                <a:spcPts val="1000"/>
              </a:spcAft>
            </a:pPr>
            <a:r>
              <a:rPr sz="1600" b="1">
                <a:solidFill>
                  <a:srgbClr val="0EA5E9"/>
                </a:solidFill>
                <a:latin typeface="Calibri"/>
              </a:rPr>
              <a:t>Live polling.  </a:t>
            </a:r>
            <a:r>
              <a:rPr sz="1600" b="0">
                <a:solidFill>
                  <a:srgbClr val="CBD5E1"/>
                </a:solidFill>
                <a:latin typeface="Calibri"/>
              </a:rPr>
              <a:t>Agents screen refreshes every 2 s; a new PC appears in under a second.</a:t>
            </a:r>
          </a:p>
          <a:p>
            <a:pPr>
              <a:spcAft>
                <a:spcPts val="1000"/>
              </a:spcAft>
            </a:pPr>
            <a:r>
              <a:rPr sz="1600" b="1">
                <a:solidFill>
                  <a:srgbClr val="0EA5E9"/>
                </a:solidFill>
                <a:latin typeface="Calibri"/>
              </a:rPr>
              <a:t>History hygiene.  </a:t>
            </a:r>
            <a:r>
              <a:rPr sz="1600" b="0">
                <a:solidFill>
                  <a:srgbClr val="CBD5E1"/>
                </a:solidFill>
                <a:latin typeface="Calibri"/>
              </a:rPr>
              <a:t>location.replace keeps one history entry so window.close() is allowed.</a:t>
            </a:r>
          </a:p>
          <a:p>
            <a:pPr>
              <a:spcAft>
                <a:spcPts val="1000"/>
              </a:spcAft>
            </a:pPr>
            <a:r>
              <a:rPr sz="1600" b="1">
                <a:solidFill>
                  <a:srgbClr val="0EA5E9"/>
                </a:solidFill>
                <a:latin typeface="Calibri"/>
              </a:rPr>
              <a:t>DPMS fix.  </a:t>
            </a:r>
            <a:r>
              <a:rPr sz="1600" b="0">
                <a:solidFill>
                  <a:srgbClr val="CBD5E1"/>
                </a:solidFill>
                <a:latin typeface="Calibri"/>
              </a:rPr>
              <a:t>X11 screen blanking froze the SPI panel; disabled with xset -dpms at login.</a:t>
            </a:r>
          </a:p>
        </p:txBody>
      </p:sp>
      <p:sp>
        <p:nvSpPr>
          <p:cNvPr id="6" name="Rounded Rectangle 5"/>
          <p:cNvSpPr/>
          <p:nvPr/>
        </p:nvSpPr>
        <p:spPr>
          <a:xfrm>
            <a:off x="7726680" y="1645920"/>
            <a:ext cx="3931920" cy="2715768"/>
          </a:xfrm>
          <a:prstGeom prst="roundRect">
            <a:avLst>
              <a:gd name="adj" fmla="val 5000"/>
            </a:avLst>
          </a:prstGeom>
          <a:solidFill>
            <a:srgbClr val="020617"/>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0" y="1783080"/>
            <a:ext cx="3657600" cy="2441448"/>
          </a:xfrm>
          <a:prstGeom prst="rect">
            <a:avLst/>
          </a:prstGeom>
          <a:solidFill>
            <a:srgbClr val="0807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73568" y="1856232"/>
            <a:ext cx="3429000" cy="365760"/>
          </a:xfrm>
          <a:prstGeom prst="rect">
            <a:avLst/>
          </a:prstGeom>
          <a:noFill/>
        </p:spPr>
        <p:txBody>
          <a:bodyPr wrap="square" anchor="t" lIns="45720" rIns="45720">
            <a:spAutoFit/>
          </a:bodyPr>
          <a:lstStyle/>
          <a:p>
            <a:r>
              <a:rPr sz="1500" b="1">
                <a:solidFill>
                  <a:srgbClr val="F8FAFC"/>
                </a:solidFill>
                <a:latin typeface="Calibri"/>
              </a:rPr>
              <a:t>Agents</a:t>
            </a:r>
          </a:p>
        </p:txBody>
      </p:sp>
      <p:sp>
        <p:nvSpPr>
          <p:cNvPr id="9" name="Rectangle 8"/>
          <p:cNvSpPr/>
          <p:nvPr/>
        </p:nvSpPr>
        <p:spPr>
          <a:xfrm>
            <a:off x="7863840" y="2295144"/>
            <a:ext cx="3657600" cy="9525"/>
          </a:xfrm>
          <a:prstGeom prst="rect">
            <a:avLst/>
          </a:prstGeom>
          <a:solidFill>
            <a:srgbClr val="24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2331720"/>
            <a:ext cx="3383280" cy="841248"/>
          </a:xfrm>
          <a:prstGeom prst="rect">
            <a:avLst/>
          </a:prstGeom>
          <a:noFill/>
        </p:spPr>
        <p:txBody>
          <a:bodyPr wrap="square" anchor="t" lIns="45720" rIns="45720">
            <a:spAutoFit/>
          </a:bodyPr>
          <a:lstStyle/>
          <a:p>
            <a:r>
              <a:rPr sz="1300" b="1">
                <a:solidFill>
                  <a:srgbClr val="F8FAFC"/>
                </a:solidFill>
                <a:latin typeface="Calibri"/>
              </a:rPr>
              <a:t>soumil_linux</a:t>
            </a:r>
          </a:p>
          <a:p>
            <a:r>
              <a:rPr sz="1100" b="0">
                <a:solidFill>
                  <a:srgbClr val="FF9F0A"/>
                </a:solidFill>
                <a:latin typeface="Calibri"/>
              </a:rPr>
              <a:t>1 agent working</a:t>
            </a:r>
          </a:p>
          <a:p>
            <a:r>
              <a:rPr sz="1000" b="0">
                <a:solidFill>
                  <a:srgbClr val="8E8176"/>
                </a:solidFill>
                <a:latin typeface="Calibri"/>
              </a:rPr>
              <a:t>107 MB on the Pi</a:t>
            </a:r>
          </a:p>
        </p:txBody>
      </p:sp>
      <p:sp>
        <p:nvSpPr>
          <p:cNvPr id="11" name="Rectangle 10"/>
          <p:cNvSpPr/>
          <p:nvPr/>
        </p:nvSpPr>
        <p:spPr>
          <a:xfrm>
            <a:off x="7863840" y="3191256"/>
            <a:ext cx="3657600" cy="9525"/>
          </a:xfrm>
          <a:prstGeom prst="rect">
            <a:avLst/>
          </a:prstGeom>
          <a:solidFill>
            <a:srgbClr val="24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3227832"/>
            <a:ext cx="3383280" cy="841248"/>
          </a:xfrm>
          <a:prstGeom prst="rect">
            <a:avLst/>
          </a:prstGeom>
          <a:noFill/>
        </p:spPr>
        <p:txBody>
          <a:bodyPr wrap="square" anchor="t" lIns="45720" rIns="45720">
            <a:spAutoFit/>
          </a:bodyPr>
          <a:lstStyle/>
          <a:p>
            <a:r>
              <a:rPr sz="1300" b="1">
                <a:solidFill>
                  <a:srgbClr val="F8FAFC"/>
                </a:solidFill>
                <a:latin typeface="Calibri"/>
              </a:rPr>
              <a:t>soumil_win</a:t>
            </a:r>
          </a:p>
          <a:p>
            <a:r>
              <a:rPr sz="1100" b="0">
                <a:solidFill>
                  <a:srgbClr val="FF5A3C"/>
                </a:solidFill>
                <a:latin typeface="Calibri"/>
              </a:rPr>
              <a:t>1 agent needs you</a:t>
            </a:r>
          </a:p>
          <a:p>
            <a:r>
              <a:rPr sz="1000" b="0">
                <a:solidFill>
                  <a:srgbClr val="8E8176"/>
                </a:solidFill>
                <a:latin typeface="Calibri"/>
              </a:rPr>
              <a:t>Uploading · 48 of 107 MB</a:t>
            </a:r>
          </a:p>
        </p:txBody>
      </p:sp>
      <p:sp>
        <p:nvSpPr>
          <p:cNvPr id="13" name="TextBox 12"/>
          <p:cNvSpPr txBox="1"/>
          <p:nvPr/>
        </p:nvSpPr>
        <p:spPr>
          <a:xfrm>
            <a:off x="7726680" y="4498848"/>
            <a:ext cx="3931920" cy="457200"/>
          </a:xfrm>
          <a:prstGeom prst="rect">
            <a:avLst/>
          </a:prstGeom>
          <a:noFill/>
        </p:spPr>
        <p:txBody>
          <a:bodyPr wrap="square" anchor="t" lIns="45720" rIns="45720">
            <a:spAutoFit/>
          </a:bodyPr>
          <a:lstStyle/>
          <a:p>
            <a:pPr algn="ctr"/>
            <a:r>
              <a:rPr sz="1200" b="0">
                <a:solidFill>
                  <a:srgbClr val="94A3B8"/>
                </a:solidFill>
                <a:latin typeface="Calibri"/>
              </a:rPr>
              <a:t>Agents app on the Pi (simplified)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a:spAutoFit/>
          </a:bodyPr>
          <a:lstStyle/>
          <a:p>
            <a:r>
              <a:rPr sz="3200" b="1">
                <a:solidFill>
                  <a:srgbClr val="F8FAFC"/>
                </a:solidFill>
                <a:latin typeface="Calibri"/>
              </a:rPr>
              <a:t>Security, operations &amp; what's next</a:t>
            </a:r>
          </a:p>
        </p:txBody>
      </p:sp>
      <p:sp>
        <p:nvSpPr>
          <p:cNvPr id="3" name="Rectangle 2"/>
          <p:cNvSpPr/>
          <p:nvPr/>
        </p:nvSpPr>
        <p:spPr>
          <a:xfrm>
            <a:off x="640080" y="1207008"/>
            <a:ext cx="1005840" cy="64008"/>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0911535" cy="274320"/>
          </a:xfrm>
          <a:prstGeom prst="rect">
            <a:avLst/>
          </a:prstGeom>
          <a:noFill/>
        </p:spPr>
        <p:txBody>
          <a:bodyPr wrap="none">
            <a:spAutoFit/>
          </a:bodyPr>
          <a:lstStyle/>
          <a:p>
            <a:r>
              <a:rPr sz="1100" b="1">
                <a:solidFill>
                  <a:srgbClr val="0EA5E9"/>
                </a:solidFill>
                <a:latin typeface="Calibri"/>
              </a:rPr>
              <a:t>PiNest</a:t>
            </a:r>
            <a:r>
              <a:rPr sz="1100" b="0">
                <a:solidFill>
                  <a:srgbClr val="94A3B8"/>
                </a:solidFill>
                <a:latin typeface="Calibri"/>
              </a:rPr>
              <a:t>   ·   Raspberry Pi 5 homelab   ·   8 / 8</a:t>
            </a:r>
          </a:p>
        </p:txBody>
      </p:sp>
      <p:sp>
        <p:nvSpPr>
          <p:cNvPr id="5" name="Rounded Rectangle 4"/>
          <p:cNvSpPr/>
          <p:nvPr/>
        </p:nvSpPr>
        <p:spPr>
          <a:xfrm>
            <a:off x="640080" y="1691640"/>
            <a:ext cx="3429000" cy="3200400"/>
          </a:xfrm>
          <a:prstGeom prst="roundRect">
            <a:avLst>
              <a:gd name="adj" fmla="val 6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37944"/>
            <a:ext cx="3026664" cy="2926080"/>
          </a:xfrm>
          <a:prstGeom prst="rect">
            <a:avLst/>
          </a:prstGeom>
          <a:noFill/>
        </p:spPr>
        <p:txBody>
          <a:bodyPr wrap="square" anchor="t" lIns="45720" rIns="45720">
            <a:spAutoFit/>
          </a:bodyPr>
          <a:lstStyle/>
          <a:p>
            <a:pPr>
              <a:spcAft>
                <a:spcPts val="600"/>
              </a:spcAft>
            </a:pPr>
            <a:r>
              <a:rPr sz="1800" b="1">
                <a:solidFill>
                  <a:srgbClr val="0EA5E9"/>
                </a:solidFill>
                <a:latin typeface="Calibri"/>
              </a:rPr>
              <a:t>Security</a:t>
            </a:r>
          </a:p>
          <a:p>
            <a:pPr>
              <a:spcAft>
                <a:spcPts val="300"/>
              </a:spcAft>
            </a:pPr>
            <a:r>
              <a:rPr sz="1500" b="1">
                <a:solidFill>
                  <a:srgbClr val="0EA5E9"/>
                </a:solidFill>
                <a:latin typeface="Calibri"/>
              </a:rPr>
              <a:t>ufw  </a:t>
            </a:r>
            <a:r>
              <a:rPr sz="1500" b="0">
                <a:solidFill>
                  <a:srgbClr val="CBD5E1"/>
                </a:solidFill>
                <a:latin typeface="Calibri"/>
              </a:rPr>
              <a:t>LAN-only: 192.168.1.0/24</a:t>
            </a:r>
          </a:p>
          <a:p>
            <a:pPr>
              <a:spcAft>
                <a:spcPts val="300"/>
              </a:spcAft>
            </a:pPr>
            <a:r>
              <a:rPr sz="1500" b="1">
                <a:solidFill>
                  <a:srgbClr val="0EA5E9"/>
                </a:solidFill>
                <a:latin typeface="Calibri"/>
              </a:rPr>
              <a:t>X-Token  </a:t>
            </a:r>
            <a:r>
              <a:rPr sz="1500" b="0">
                <a:solidFill>
                  <a:srgbClr val="CBD5E1"/>
                </a:solidFill>
                <a:latin typeface="Calibri"/>
              </a:rPr>
              <a:t>hmac.compare_digest</a:t>
            </a:r>
          </a:p>
          <a:p>
            <a:pPr>
              <a:spcAft>
                <a:spcPts val="300"/>
              </a:spcAft>
            </a:pPr>
            <a:r>
              <a:rPr sz="1500" b="1">
                <a:solidFill>
                  <a:srgbClr val="0EA5E9"/>
                </a:solidFill>
                <a:latin typeface="Calibri"/>
              </a:rPr>
              <a:t>SSH  </a:t>
            </a:r>
            <a:r>
              <a:rPr sz="1500" b="0">
                <a:solidFill>
                  <a:srgbClr val="CBD5E1"/>
                </a:solidFill>
                <a:latin typeface="Calibri"/>
              </a:rPr>
              <a:t>key-based auth only</a:t>
            </a:r>
          </a:p>
          <a:p>
            <a:pPr>
              <a:spcAft>
                <a:spcPts val="300"/>
              </a:spcAft>
            </a:pPr>
            <a:r>
              <a:rPr sz="1500" b="1">
                <a:solidFill>
                  <a:srgbClr val="0EA5E9"/>
                </a:solidFill>
                <a:latin typeface="Calibri"/>
              </a:rPr>
              <a:t>Redaction  </a:t>
            </a:r>
            <a:r>
              <a:rPr sz="1500" b="0">
                <a:solidFill>
                  <a:srgbClr val="CBD5E1"/>
                </a:solidFill>
                <a:latin typeface="Calibri"/>
              </a:rPr>
              <a:t>tokens &amp; passwords masked before upload</a:t>
            </a:r>
          </a:p>
          <a:p>
            <a:pPr>
              <a:spcAft>
                <a:spcPts val="300"/>
              </a:spcAft>
            </a:pPr>
            <a:r>
              <a:rPr sz="1500" b="1">
                <a:solidFill>
                  <a:srgbClr val="0EA5E9"/>
                </a:solidFill>
                <a:latin typeface="Calibri"/>
              </a:rPr>
              <a:t>Deny list  </a:t>
            </a:r>
            <a:r>
              <a:rPr sz="1500" b="0">
                <a:solidFill>
                  <a:srgbClr val="CBD5E1"/>
                </a:solidFill>
                <a:latin typeface="Calibri"/>
              </a:rPr>
              <a:t>.ssh, .gnupg, .env, key files</a:t>
            </a:r>
          </a:p>
        </p:txBody>
      </p:sp>
      <p:sp>
        <p:nvSpPr>
          <p:cNvPr id="7" name="Rounded Rectangle 6"/>
          <p:cNvSpPr/>
          <p:nvPr/>
        </p:nvSpPr>
        <p:spPr>
          <a:xfrm>
            <a:off x="4297680" y="1691640"/>
            <a:ext cx="3429000" cy="3200400"/>
          </a:xfrm>
          <a:prstGeom prst="roundRect">
            <a:avLst>
              <a:gd name="adj" fmla="val 6000"/>
            </a:avLst>
          </a:prstGeom>
          <a:solidFill>
            <a:srgbClr val="1E293B"/>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8848" y="1837944"/>
            <a:ext cx="3026664" cy="2926080"/>
          </a:xfrm>
          <a:prstGeom prst="rect">
            <a:avLst/>
          </a:prstGeom>
          <a:noFill/>
        </p:spPr>
        <p:txBody>
          <a:bodyPr wrap="square" anchor="t" lIns="45720" rIns="45720">
            <a:spAutoFit/>
          </a:bodyPr>
          <a:lstStyle/>
          <a:p>
            <a:pPr>
              <a:spcAft>
                <a:spcPts val="600"/>
              </a:spcAft>
            </a:pPr>
            <a:r>
              <a:rPr sz="1800" b="1">
                <a:solidFill>
                  <a:srgbClr val="0EA5E9"/>
                </a:solidFill>
                <a:latin typeface="Calibri"/>
              </a:rPr>
              <a:t>Operations</a:t>
            </a:r>
          </a:p>
          <a:p>
            <a:pPr>
              <a:spcAft>
                <a:spcPts val="300"/>
              </a:spcAft>
            </a:pPr>
            <a:r>
              <a:rPr sz="1500" b="1">
                <a:solidFill>
                  <a:srgbClr val="0EA5E9"/>
                </a:solidFill>
                <a:latin typeface="Calibri"/>
              </a:rPr>
              <a:t>systemd  </a:t>
            </a:r>
            <a:r>
              <a:rPr sz="1500" b="0">
                <a:solidFill>
                  <a:srgbClr val="CBD5E1"/>
                </a:solidFill>
                <a:latin typeface="Calibri"/>
              </a:rPr>
              <a:t>Restart=on-failure, timers</a:t>
            </a:r>
          </a:p>
          <a:p>
            <a:pPr>
              <a:spcAft>
                <a:spcPts val="300"/>
              </a:spcAft>
            </a:pPr>
            <a:r>
              <a:rPr sz="1500" b="1">
                <a:solidFill>
                  <a:srgbClr val="0EA5E9"/>
                </a:solidFill>
                <a:latin typeface="Calibri"/>
              </a:rPr>
              <a:t>Backups  </a:t>
            </a:r>
            <a:r>
              <a:rPr sz="1500" b="0">
                <a:solidFill>
                  <a:srgbClr val="CBD5E1"/>
                </a:solidFill>
                <a:latin typeface="Calibri"/>
              </a:rPr>
              <a:t>code archived before each deploy</a:t>
            </a:r>
          </a:p>
          <a:p>
            <a:pPr>
              <a:spcAft>
                <a:spcPts val="300"/>
              </a:spcAft>
            </a:pPr>
            <a:r>
              <a:rPr sz="1500" b="1">
                <a:solidFill>
                  <a:srgbClr val="0EA5E9"/>
                </a:solidFill>
                <a:latin typeface="Calibri"/>
              </a:rPr>
              <a:t>Tests  </a:t>
            </a:r>
            <a:r>
              <a:rPr sz="1500" b="0">
                <a:solidFill>
                  <a:srgbClr val="CBD5E1"/>
                </a:solidFill>
                <a:latin typeface="Calibri"/>
              </a:rPr>
              <a:t>37 unit tests, stdlib unittest</a:t>
            </a:r>
          </a:p>
          <a:p>
            <a:pPr>
              <a:spcAft>
                <a:spcPts val="300"/>
              </a:spcAft>
            </a:pPr>
            <a:r>
              <a:rPr sz="1500" b="1">
                <a:solidFill>
                  <a:srgbClr val="0EA5E9"/>
                </a:solidFill>
                <a:latin typeface="Calibri"/>
              </a:rPr>
              <a:t>Logs  </a:t>
            </a:r>
            <a:r>
              <a:rPr sz="1500" b="0">
                <a:solidFill>
                  <a:srgbClr val="CBD5E1"/>
                </a:solidFill>
                <a:latin typeface="Calibri"/>
              </a:rPr>
              <a:t>journalctl -u pihub</a:t>
            </a:r>
          </a:p>
          <a:p>
            <a:pPr>
              <a:spcAft>
                <a:spcPts val="300"/>
              </a:spcAft>
            </a:pPr>
            <a:r>
              <a:rPr sz="1500" b="1">
                <a:solidFill>
                  <a:srgbClr val="0EA5E9"/>
                </a:solidFill>
                <a:latin typeface="Calibri"/>
              </a:rPr>
              <a:t>Idempotent setup  </a:t>
            </a:r>
            <a:r>
              <a:rPr sz="1500" b="0">
                <a:solidFill>
                  <a:srgbClr val="CBD5E1"/>
                </a:solidFill>
                <a:latin typeface="Calibri"/>
              </a:rPr>
              <a:t>every installer is safe to rerun</a:t>
            </a:r>
          </a:p>
        </p:txBody>
      </p:sp>
      <p:sp>
        <p:nvSpPr>
          <p:cNvPr id="9" name="Rounded Rectangle 8"/>
          <p:cNvSpPr/>
          <p:nvPr/>
        </p:nvSpPr>
        <p:spPr>
          <a:xfrm>
            <a:off x="7955280" y="1691640"/>
            <a:ext cx="3840480" cy="3200400"/>
          </a:xfrm>
          <a:prstGeom prst="roundRect">
            <a:avLst>
              <a:gd name="adj" fmla="val 6000"/>
            </a:avLst>
          </a:prstGeom>
          <a:solidFill>
            <a:srgbClr val="1E293B"/>
          </a:solidFill>
          <a:ln w="15875">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6448" y="1837944"/>
            <a:ext cx="3438144" cy="2926080"/>
          </a:xfrm>
          <a:prstGeom prst="rect">
            <a:avLst/>
          </a:prstGeom>
          <a:noFill/>
        </p:spPr>
        <p:txBody>
          <a:bodyPr wrap="square" anchor="t" lIns="45720" rIns="45720">
            <a:spAutoFit/>
          </a:bodyPr>
          <a:lstStyle/>
          <a:p>
            <a:pPr>
              <a:spcAft>
                <a:spcPts val="600"/>
              </a:spcAft>
            </a:pPr>
            <a:r>
              <a:rPr sz="1800" b="1">
                <a:solidFill>
                  <a:srgbClr val="F8FAFC"/>
                </a:solidFill>
                <a:latin typeface="Calibri"/>
              </a:rPr>
              <a:t>Next</a:t>
            </a:r>
          </a:p>
          <a:p>
            <a:pPr>
              <a:spcAft>
                <a:spcPts val="300"/>
              </a:spcAft>
            </a:pPr>
            <a:r>
              <a:rPr sz="1500" b="1">
                <a:solidFill>
                  <a:srgbClr val="0EA5E9"/>
                </a:solidFill>
                <a:latin typeface="Calibri"/>
              </a:rPr>
              <a:t>Windows rollout.  </a:t>
            </a:r>
            <a:r>
              <a:rPr sz="1500" b="0">
                <a:solidFill>
                  <a:srgbClr val="CBD5E1"/>
                </a:solidFill>
                <a:latin typeface="Calibri"/>
              </a:rPr>
              <a:t>join-pi.cmd on the second PC.</a:t>
            </a:r>
          </a:p>
          <a:p>
            <a:pPr>
              <a:spcAft>
                <a:spcPts val="300"/>
              </a:spcAft>
            </a:pPr>
            <a:r>
              <a:rPr sz="1500" b="1">
                <a:solidFill>
                  <a:srgbClr val="0EA5E9"/>
                </a:solidFill>
                <a:latin typeface="Calibri"/>
              </a:rPr>
              <a:t>Network-portable.  </a:t>
            </a:r>
            <a:r>
              <a:rPr sz="1500" b="0">
                <a:solidFill>
                  <a:srgbClr val="CBD5E1"/>
                </a:solidFill>
                <a:latin typeface="Calibri"/>
              </a:rPr>
              <a:t>DHCP + mDNS (piscreen.local) instead of a fixed IP.</a:t>
            </a:r>
          </a:p>
          <a:p>
            <a:pPr>
              <a:spcAft>
                <a:spcPts val="300"/>
              </a:spcAft>
            </a:pPr>
            <a:r>
              <a:rPr sz="1500" b="1">
                <a:solidFill>
                  <a:srgbClr val="0EA5E9"/>
                </a:solidFill>
                <a:latin typeface="Calibri"/>
              </a:rPr>
              <a:t>Remote access.  </a:t>
            </a:r>
            <a:r>
              <a:rPr sz="1500" b="0">
                <a:solidFill>
                  <a:srgbClr val="CBD5E1"/>
                </a:solidFill>
                <a:latin typeface="Calibri"/>
              </a:rPr>
              <a:t>HTTPS or a WireGuard tunnel (Tailscale).</a:t>
            </a:r>
          </a:p>
          <a:p>
            <a:pPr>
              <a:spcAft>
                <a:spcPts val="300"/>
              </a:spcAft>
            </a:pPr>
            <a:r>
              <a:rPr sz="1500" b="1">
                <a:solidFill>
                  <a:srgbClr val="0EA5E9"/>
                </a:solidFill>
                <a:latin typeface="Calibri"/>
              </a:rPr>
              <a:t>More agents.  </a:t>
            </a:r>
            <a:r>
              <a:rPr sz="1500" b="0">
                <a:solidFill>
                  <a:srgbClr val="CBD5E1"/>
                </a:solidFill>
                <a:latin typeface="Calibri"/>
              </a:rPr>
              <a:t>connect_agents.py picks up new ones automatically.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